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17"/>
  </p:notesMasterIdLst>
  <p:handoutMasterIdLst>
    <p:handoutMasterId r:id="rId18"/>
  </p:handoutMasterIdLst>
  <p:sldIdLst>
    <p:sldId id="258" r:id="rId2"/>
    <p:sldId id="260" r:id="rId3"/>
    <p:sldId id="261" r:id="rId4"/>
    <p:sldId id="291" r:id="rId5"/>
    <p:sldId id="292" r:id="rId6"/>
    <p:sldId id="293" r:id="rId7"/>
    <p:sldId id="301" r:id="rId8"/>
    <p:sldId id="295" r:id="rId9"/>
    <p:sldId id="294" r:id="rId10"/>
    <p:sldId id="297" r:id="rId11"/>
    <p:sldId id="296" r:id="rId12"/>
    <p:sldId id="298" r:id="rId13"/>
    <p:sldId id="299" r:id="rId14"/>
    <p:sldId id="300" r:id="rId15"/>
    <p:sldId id="29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82"/>
    <p:restoredTop sz="96306"/>
  </p:normalViewPr>
  <p:slideViewPr>
    <p:cSldViewPr snapToGrid="0">
      <p:cViewPr varScale="1">
        <p:scale>
          <a:sx n="132" d="100"/>
          <a:sy n="132" d="100"/>
        </p:scale>
        <p:origin x="3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777F44-07D1-4040-B2D3-E60FE2B577A9}"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A663AC63-060A-4BF6-9077-6B235B725138}">
      <dgm:prSet custT="1"/>
      <dgm:spPr>
        <a:solidFill>
          <a:schemeClr val="accent1">
            <a:lumMod val="50000"/>
          </a:schemeClr>
        </a:solidFill>
      </dgm:spPr>
      <dgm:t>
        <a:bodyPr/>
        <a:lstStyle/>
        <a:p>
          <a:r>
            <a:rPr lang="en-US" sz="1200" dirty="0"/>
            <a:t>Cross Correlation Theory</a:t>
          </a:r>
        </a:p>
      </dgm:t>
    </dgm:pt>
    <dgm:pt modelId="{4DDAEC35-5495-43A9-8F10-296574F22CF5}" type="parTrans" cxnId="{BC293B7D-71DC-411C-9ADF-E3417E3ECCF7}">
      <dgm:prSet/>
      <dgm:spPr/>
      <dgm:t>
        <a:bodyPr/>
        <a:lstStyle/>
        <a:p>
          <a:endParaRPr lang="en-US"/>
        </a:p>
      </dgm:t>
    </dgm:pt>
    <dgm:pt modelId="{7926FD6D-4403-4E68-AAF8-5C58C96F06B9}" type="sibTrans" cxnId="{BC293B7D-71DC-411C-9ADF-E3417E3ECCF7}">
      <dgm:prSet/>
      <dgm:spPr/>
      <dgm:t>
        <a:bodyPr/>
        <a:lstStyle/>
        <a:p>
          <a:endParaRPr lang="en-US"/>
        </a:p>
      </dgm:t>
    </dgm:pt>
    <dgm:pt modelId="{79B83826-BF7E-4AF0-B1C8-6A6229CB3F46}">
      <dgm:prSet custT="1"/>
      <dgm:spPr>
        <a:solidFill>
          <a:schemeClr val="bg1">
            <a:lumMod val="95000"/>
          </a:schemeClr>
        </a:solidFill>
      </dgm:spPr>
      <dgm:t>
        <a:bodyPr/>
        <a:lstStyle/>
        <a:p>
          <a:r>
            <a:rPr lang="en-US" sz="1200" b="0" cap="none" spc="0" dirty="0">
              <a:ln w="0"/>
              <a:solidFill>
                <a:schemeClr val="tx1"/>
              </a:solidFill>
              <a:effectLst>
                <a:outerShdw blurRad="38100" dist="19050" dir="2700000" algn="tl" rotWithShape="0">
                  <a:schemeClr val="dk1">
                    <a:alpha val="40000"/>
                  </a:schemeClr>
                </a:outerShdw>
              </a:effectLst>
            </a:rPr>
            <a:t>How Cross Correlation is Used in Seismic Phase Velocity</a:t>
          </a:r>
        </a:p>
      </dgm:t>
    </dgm:pt>
    <dgm:pt modelId="{42956EF3-68E7-4C77-B725-2F1F63374B03}" type="parTrans" cxnId="{A9C498F7-7953-451D-87FB-99C9E7FCE642}">
      <dgm:prSet/>
      <dgm:spPr/>
      <dgm:t>
        <a:bodyPr/>
        <a:lstStyle/>
        <a:p>
          <a:endParaRPr lang="en-US"/>
        </a:p>
      </dgm:t>
    </dgm:pt>
    <dgm:pt modelId="{C9397740-D1F9-4D93-A1E1-8C97513079C2}" type="sibTrans" cxnId="{A9C498F7-7953-451D-87FB-99C9E7FCE642}">
      <dgm:prSet/>
      <dgm:spPr/>
      <dgm:t>
        <a:bodyPr/>
        <a:lstStyle/>
        <a:p>
          <a:endParaRPr lang="en-US"/>
        </a:p>
      </dgm:t>
    </dgm:pt>
    <dgm:pt modelId="{B858CE3B-0D60-47E3-B57D-3F495712D492}">
      <dgm:prSet custT="1"/>
      <dgm:spPr>
        <a:solidFill>
          <a:schemeClr val="accent4">
            <a:lumMod val="75000"/>
          </a:schemeClr>
        </a:solidFill>
      </dgm:spPr>
      <dgm:t>
        <a:bodyPr/>
        <a:lstStyle/>
        <a:p>
          <a:r>
            <a:rPr lang="en-US" sz="1200" dirty="0"/>
            <a:t>Challenges in Surface Wave (Especially Love Wave)</a:t>
          </a:r>
        </a:p>
      </dgm:t>
    </dgm:pt>
    <dgm:pt modelId="{73AC8442-BDA4-4494-BFDE-70B9A539629E}" type="parTrans" cxnId="{0461B0FC-3962-41F4-B75C-3B115650229A}">
      <dgm:prSet/>
      <dgm:spPr/>
      <dgm:t>
        <a:bodyPr/>
        <a:lstStyle/>
        <a:p>
          <a:endParaRPr lang="en-US"/>
        </a:p>
      </dgm:t>
    </dgm:pt>
    <dgm:pt modelId="{F7E1A190-01AC-4980-9E18-2796BDDC6517}" type="sibTrans" cxnId="{0461B0FC-3962-41F4-B75C-3B115650229A}">
      <dgm:prSet/>
      <dgm:spPr/>
      <dgm:t>
        <a:bodyPr/>
        <a:lstStyle/>
        <a:p>
          <a:endParaRPr lang="en-US"/>
        </a:p>
      </dgm:t>
    </dgm:pt>
    <dgm:pt modelId="{CE1DD720-48B0-485C-980C-998204CEC79A}">
      <dgm:prSet custT="1"/>
      <dgm:spPr>
        <a:solidFill>
          <a:srgbClr val="4472C4">
            <a:lumMod val="50000"/>
          </a:srgbClr>
        </a:solidFill>
        <a:ln>
          <a:noFill/>
        </a:ln>
        <a:effectLst>
          <a:outerShdw blurRad="57150" dist="19050" dir="5400000" algn="ctr" rotWithShape="0">
            <a:srgbClr val="000000">
              <a:alpha val="63000"/>
            </a:srgbClr>
          </a:outerShdw>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Multi-Taper Technique Introduction </a:t>
          </a:r>
        </a:p>
      </dgm:t>
    </dgm:pt>
    <dgm:pt modelId="{60F0888C-C30C-4C21-8A98-5A296B5FE81F}" type="parTrans" cxnId="{BA623152-0CAA-4F18-8629-3A132260526A}">
      <dgm:prSet/>
      <dgm:spPr/>
      <dgm:t>
        <a:bodyPr/>
        <a:lstStyle/>
        <a:p>
          <a:endParaRPr lang="en-US"/>
        </a:p>
      </dgm:t>
    </dgm:pt>
    <dgm:pt modelId="{1FF0B5A5-4B8D-4EB6-8C7A-83E09A77229B}" type="sibTrans" cxnId="{BA623152-0CAA-4F18-8629-3A132260526A}">
      <dgm:prSet/>
      <dgm:spPr/>
      <dgm:t>
        <a:bodyPr/>
        <a:lstStyle/>
        <a:p>
          <a:endParaRPr lang="en-US"/>
        </a:p>
      </dgm:t>
    </dgm:pt>
    <dgm:pt modelId="{D74BDA1D-E83B-44A3-B356-FD40C336BEDE}">
      <dgm:prSet custT="1"/>
      <dgm:spPr>
        <a:solidFill>
          <a:prstClr val="white">
            <a:lumMod val="95000"/>
          </a:prstClr>
        </a:solidFill>
        <a:ln>
          <a:noFill/>
        </a:ln>
        <a:effectLst>
          <a:outerShdw blurRad="57150" dist="19050" dir="5400000" algn="ctr" rotWithShape="0">
            <a:srgbClr val="000000">
              <a:alpha val="63000"/>
            </a:srgbClr>
          </a:outerShdw>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US" sz="1200" b="0" kern="1200" cap="none" spc="0" dirty="0">
              <a:ln w="0"/>
              <a:solidFill>
                <a:prstClr val="black"/>
              </a:solidFill>
              <a:effectLst>
                <a:outerShdw blurRad="38100" dist="19050" dir="2700000" algn="tl" rotWithShape="0">
                  <a:prstClr val="black">
                    <a:alpha val="40000"/>
                  </a:prstClr>
                </a:outerShdw>
              </a:effectLst>
              <a:latin typeface="Calibri" panose="020F0502020204030204"/>
              <a:ea typeface="+mn-ea"/>
              <a:cs typeface="+mn-cs"/>
            </a:rPr>
            <a:t>Multi-Taper on Synthetic Dataset</a:t>
          </a:r>
        </a:p>
      </dgm:t>
    </dgm:pt>
    <dgm:pt modelId="{9924A066-C810-4497-BC6D-D54C37952783}" type="parTrans" cxnId="{29FBB2E8-5DFC-43F3-B834-1ECAF4D9FF83}">
      <dgm:prSet/>
      <dgm:spPr/>
      <dgm:t>
        <a:bodyPr/>
        <a:lstStyle/>
        <a:p>
          <a:endParaRPr lang="en-US"/>
        </a:p>
      </dgm:t>
    </dgm:pt>
    <dgm:pt modelId="{D970D3B1-2203-4C16-BDF3-7D034417AEB8}" type="sibTrans" cxnId="{29FBB2E8-5DFC-43F3-B834-1ECAF4D9FF83}">
      <dgm:prSet/>
      <dgm:spPr/>
      <dgm:t>
        <a:bodyPr/>
        <a:lstStyle/>
        <a:p>
          <a:endParaRPr lang="en-US"/>
        </a:p>
      </dgm:t>
    </dgm:pt>
    <dgm:pt modelId="{C44240BD-40C5-4F56-A0DC-70AECCCAC660}">
      <dgm:prSet custT="1"/>
      <dgm:spPr>
        <a:solidFill>
          <a:srgbClr val="FFC000">
            <a:lumMod val="75000"/>
          </a:srgbClr>
        </a:solidFill>
        <a:ln>
          <a:noFill/>
        </a:ln>
        <a:effectLst>
          <a:outerShdw blurRad="57150" dist="19050" dir="5400000" algn="ctr" rotWithShape="0">
            <a:srgbClr val="000000">
              <a:alpha val="63000"/>
            </a:srgbClr>
          </a:outerShdw>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Results: Frequency and Time Domain CCF Examples</a:t>
          </a:r>
        </a:p>
      </dgm:t>
    </dgm:pt>
    <dgm:pt modelId="{539EBD2D-C986-4425-A486-1105009F7709}" type="parTrans" cxnId="{D3577621-C689-45AB-9F62-71FBBAA21215}">
      <dgm:prSet/>
      <dgm:spPr/>
      <dgm:t>
        <a:bodyPr/>
        <a:lstStyle/>
        <a:p>
          <a:endParaRPr lang="en-US"/>
        </a:p>
      </dgm:t>
    </dgm:pt>
    <dgm:pt modelId="{0ECD7801-F5A0-4394-BF2E-D4F2DA9E948C}" type="sibTrans" cxnId="{D3577621-C689-45AB-9F62-71FBBAA21215}">
      <dgm:prSet/>
      <dgm:spPr/>
      <dgm:t>
        <a:bodyPr/>
        <a:lstStyle/>
        <a:p>
          <a:endParaRPr lang="en-US"/>
        </a:p>
      </dgm:t>
    </dgm:pt>
    <dgm:pt modelId="{106BF7EA-7675-4DDB-B486-058CEFD03DB6}">
      <dgm:prSet custT="1"/>
      <dgm:spPr>
        <a:solidFill>
          <a:srgbClr val="4472C4">
            <a:lumMod val="50000"/>
          </a:srgbClr>
        </a:solidFill>
        <a:ln>
          <a:noFill/>
        </a:ln>
        <a:effectLst>
          <a:outerShdw blurRad="57150" dist="19050" dir="5400000" algn="ctr" rotWithShape="0">
            <a:srgbClr val="000000">
              <a:alpha val="63000"/>
            </a:srgbClr>
          </a:outerShdw>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Results: Time Domain Correlation Wavefield</a:t>
          </a:r>
        </a:p>
      </dgm:t>
    </dgm:pt>
    <dgm:pt modelId="{06B126BF-F5FE-4940-B2F9-9357F5082144}" type="parTrans" cxnId="{0DD4ADFA-695F-4B81-B7E8-1DEE36D0A0A1}">
      <dgm:prSet/>
      <dgm:spPr/>
      <dgm:t>
        <a:bodyPr/>
        <a:lstStyle/>
        <a:p>
          <a:endParaRPr lang="en-US"/>
        </a:p>
      </dgm:t>
    </dgm:pt>
    <dgm:pt modelId="{B35C308A-C191-401D-B1E3-A663F6226744}" type="sibTrans" cxnId="{0DD4ADFA-695F-4B81-B7E8-1DEE36D0A0A1}">
      <dgm:prSet/>
      <dgm:spPr/>
      <dgm:t>
        <a:bodyPr/>
        <a:lstStyle/>
        <a:p>
          <a:endParaRPr lang="en-US"/>
        </a:p>
      </dgm:t>
    </dgm:pt>
    <dgm:pt modelId="{DCD16D31-2AF4-46E4-A7DD-E6B1E2070568}">
      <dgm:prSet custT="1"/>
      <dgm:spPr>
        <a:solidFill>
          <a:prstClr val="white">
            <a:lumMod val="95000"/>
          </a:prstClr>
        </a:solidFill>
        <a:ln>
          <a:noFill/>
        </a:ln>
        <a:effectLst>
          <a:outerShdw blurRad="57150" dist="19050" dir="5400000" algn="ctr" rotWithShape="0">
            <a:srgbClr val="000000">
              <a:alpha val="63000"/>
            </a:srgbClr>
          </a:outerShdw>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US" sz="1200" b="0" kern="1200" cap="none" spc="0" dirty="0">
              <a:ln w="0"/>
              <a:solidFill>
                <a:prstClr val="black"/>
              </a:solidFill>
              <a:effectLst>
                <a:outerShdw blurRad="38100" dist="19050" dir="2700000" algn="tl" rotWithShape="0">
                  <a:prstClr val="black">
                    <a:alpha val="40000"/>
                  </a:prstClr>
                </a:outerShdw>
              </a:effectLst>
              <a:latin typeface="Calibri" panose="020F0502020204030204"/>
              <a:ea typeface="+mn-ea"/>
              <a:cs typeface="+mn-cs"/>
            </a:rPr>
            <a:t>Results: Frequency Domain Correlation Wavefield</a:t>
          </a:r>
        </a:p>
      </dgm:t>
    </dgm:pt>
    <dgm:pt modelId="{99AD6455-CB3F-49B2-B5B3-E2A39260EB3C}" type="parTrans" cxnId="{C3E7EA68-B88A-49D7-B055-88F6B3A5DAA7}">
      <dgm:prSet/>
      <dgm:spPr/>
      <dgm:t>
        <a:bodyPr/>
        <a:lstStyle/>
        <a:p>
          <a:endParaRPr lang="en-US"/>
        </a:p>
      </dgm:t>
    </dgm:pt>
    <dgm:pt modelId="{ECD406CF-B5D1-4802-858C-5F42F1096FEA}" type="sibTrans" cxnId="{C3E7EA68-B88A-49D7-B055-88F6B3A5DAA7}">
      <dgm:prSet/>
      <dgm:spPr/>
      <dgm:t>
        <a:bodyPr/>
        <a:lstStyle/>
        <a:p>
          <a:endParaRPr lang="en-US"/>
        </a:p>
      </dgm:t>
    </dgm:pt>
    <dgm:pt modelId="{5FE84925-FD30-4B59-835A-64589C96F3FB}">
      <dgm:prSet custT="1"/>
      <dgm:spPr>
        <a:solidFill>
          <a:srgbClr val="FFC000">
            <a:lumMod val="75000"/>
          </a:srgbClr>
        </a:solidFill>
        <a:ln>
          <a:noFill/>
        </a:ln>
        <a:effectLst>
          <a:outerShdw blurRad="57150" dist="19050" dir="5400000" algn="ctr" rotWithShape="0">
            <a:srgbClr val="000000">
              <a:alpha val="63000"/>
            </a:srgbClr>
          </a:outerShdw>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Results: Phase Velocity Computations with SeisLib</a:t>
          </a:r>
        </a:p>
      </dgm:t>
    </dgm:pt>
    <dgm:pt modelId="{8EF8C614-D1F6-49C4-B745-D6063EADBD73}" type="parTrans" cxnId="{CBFE59DE-E5A5-475F-B327-1CEF865B9498}">
      <dgm:prSet/>
      <dgm:spPr/>
      <dgm:t>
        <a:bodyPr/>
        <a:lstStyle/>
        <a:p>
          <a:endParaRPr lang="en-US"/>
        </a:p>
      </dgm:t>
    </dgm:pt>
    <dgm:pt modelId="{C0A5DDDB-C85B-451E-BDDE-B4C45175346A}" type="sibTrans" cxnId="{CBFE59DE-E5A5-475F-B327-1CEF865B9498}">
      <dgm:prSet/>
      <dgm:spPr/>
      <dgm:t>
        <a:bodyPr/>
        <a:lstStyle/>
        <a:p>
          <a:endParaRPr lang="en-US"/>
        </a:p>
      </dgm:t>
    </dgm:pt>
    <dgm:pt modelId="{D60D54AB-C0C0-47AD-BC71-23373A7429BB}">
      <dgm:prSet custT="1"/>
      <dgm:spPr>
        <a:solidFill>
          <a:srgbClr val="4472C4">
            <a:lumMod val="50000"/>
          </a:srgbClr>
        </a:solidFill>
        <a:ln>
          <a:noFill/>
        </a:ln>
        <a:effectLst>
          <a:outerShdw blurRad="57150" dist="19050" dir="5400000" algn="ctr" rotWithShape="0">
            <a:srgbClr val="000000">
              <a:alpha val="63000"/>
            </a:srgbClr>
          </a:outerShdw>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Results: Zero Crossings Analysis</a:t>
          </a:r>
        </a:p>
      </dgm:t>
    </dgm:pt>
    <dgm:pt modelId="{FF829405-BB17-4D3E-9A88-40CC84B3021A}" type="parTrans" cxnId="{C36460F5-49F2-4931-B3EE-654E2E279B10}">
      <dgm:prSet/>
      <dgm:spPr/>
      <dgm:t>
        <a:bodyPr/>
        <a:lstStyle/>
        <a:p>
          <a:endParaRPr lang="en-US"/>
        </a:p>
      </dgm:t>
    </dgm:pt>
    <dgm:pt modelId="{C0D2A9F8-09AA-4671-9136-70326393384D}" type="sibTrans" cxnId="{C36460F5-49F2-4931-B3EE-654E2E279B10}">
      <dgm:prSet/>
      <dgm:spPr/>
      <dgm:t>
        <a:bodyPr/>
        <a:lstStyle/>
        <a:p>
          <a:endParaRPr lang="en-US"/>
        </a:p>
      </dgm:t>
    </dgm:pt>
    <dgm:pt modelId="{8566D3A0-D7B3-F642-ACAF-21B587E0D9B5}">
      <dgm:prSet custT="1"/>
      <dgm:spPr>
        <a:solidFill>
          <a:prstClr val="white">
            <a:lumMod val="95000"/>
          </a:prstClr>
        </a:solidFill>
        <a:ln>
          <a:noFill/>
        </a:ln>
        <a:effectLst>
          <a:outerShdw blurRad="57150" dist="19050" dir="5400000" algn="ctr" rotWithShape="0">
            <a:srgbClr val="000000">
              <a:alpha val="63000"/>
            </a:srgbClr>
          </a:outerShdw>
        </a:effectLst>
      </dgm:spPr>
      <dgm:t>
        <a:bodyPr spcFirstLastPara="0" vert="horz" wrap="square" lIns="45720" tIns="45720" rIns="45720" bIns="45720" numCol="1" spcCol="1270" anchor="ctr" anchorCtr="0"/>
        <a:lstStyle/>
        <a:p>
          <a:pPr>
            <a:buNone/>
          </a:pPr>
          <a:r>
            <a:rPr lang="en-US" sz="1200" b="0" cap="none" spc="0" dirty="0">
              <a:ln w="0"/>
              <a:solidFill>
                <a:prstClr val="black"/>
              </a:solidFill>
              <a:effectLst>
                <a:outerShdw blurRad="38100" dist="19050" dir="2700000" algn="tl" rotWithShape="0">
                  <a:prstClr val="black">
                    <a:alpha val="40000"/>
                  </a:prstClr>
                </a:outerShdw>
              </a:effectLst>
              <a:latin typeface="Calibri" panose="020F0502020204030204"/>
              <a:ea typeface="+mn-ea"/>
              <a:cs typeface="+mn-cs"/>
            </a:rPr>
            <a:t>References</a:t>
          </a:r>
        </a:p>
      </dgm:t>
    </dgm:pt>
    <dgm:pt modelId="{01DAE862-4C98-C54C-9BF3-B80451FC6258}" type="parTrans" cxnId="{BE5354E2-B7FB-E649-AE1D-BA974EAEA212}">
      <dgm:prSet/>
      <dgm:spPr/>
      <dgm:t>
        <a:bodyPr/>
        <a:lstStyle/>
        <a:p>
          <a:endParaRPr lang="en-US"/>
        </a:p>
      </dgm:t>
    </dgm:pt>
    <dgm:pt modelId="{483A00A7-3E0D-D240-8181-175CB0EE8665}" type="sibTrans" cxnId="{BE5354E2-B7FB-E649-AE1D-BA974EAEA212}">
      <dgm:prSet/>
      <dgm:spPr/>
      <dgm:t>
        <a:bodyPr/>
        <a:lstStyle/>
        <a:p>
          <a:endParaRPr lang="en-US"/>
        </a:p>
      </dgm:t>
    </dgm:pt>
    <dgm:pt modelId="{FA525F5C-FDD7-0544-A1E1-D506EA4DEBFA}" type="pres">
      <dgm:prSet presAssocID="{33777F44-07D1-4040-B2D3-E60FE2B577A9}" presName="linear" presStyleCnt="0">
        <dgm:presLayoutVars>
          <dgm:animLvl val="lvl"/>
          <dgm:resizeHandles val="exact"/>
        </dgm:presLayoutVars>
      </dgm:prSet>
      <dgm:spPr/>
    </dgm:pt>
    <dgm:pt modelId="{0F658157-BFE9-CF4C-B448-35386B2C095D}" type="pres">
      <dgm:prSet presAssocID="{A663AC63-060A-4BF6-9077-6B235B725138}" presName="parentText" presStyleLbl="node1" presStyleIdx="0" presStyleCnt="11">
        <dgm:presLayoutVars>
          <dgm:chMax val="0"/>
          <dgm:bulletEnabled val="1"/>
        </dgm:presLayoutVars>
      </dgm:prSet>
      <dgm:spPr/>
    </dgm:pt>
    <dgm:pt modelId="{514FC0BA-ED54-5644-80C8-D1360B3738DF}" type="pres">
      <dgm:prSet presAssocID="{7926FD6D-4403-4E68-AAF8-5C58C96F06B9}" presName="spacer" presStyleCnt="0"/>
      <dgm:spPr/>
    </dgm:pt>
    <dgm:pt modelId="{449DD96B-A37A-F349-BB9F-4429BE218E30}" type="pres">
      <dgm:prSet presAssocID="{79B83826-BF7E-4AF0-B1C8-6A6229CB3F46}" presName="parentText" presStyleLbl="node1" presStyleIdx="1" presStyleCnt="11">
        <dgm:presLayoutVars>
          <dgm:chMax val="0"/>
          <dgm:bulletEnabled val="1"/>
        </dgm:presLayoutVars>
      </dgm:prSet>
      <dgm:spPr/>
    </dgm:pt>
    <dgm:pt modelId="{2E04EBA3-2014-A547-968E-799891D00421}" type="pres">
      <dgm:prSet presAssocID="{C9397740-D1F9-4D93-A1E1-8C97513079C2}" presName="spacer" presStyleCnt="0"/>
      <dgm:spPr/>
    </dgm:pt>
    <dgm:pt modelId="{0D5017EF-DC98-B349-8F45-61D85C26E119}" type="pres">
      <dgm:prSet presAssocID="{B858CE3B-0D60-47E3-B57D-3F495712D492}" presName="parentText" presStyleLbl="node1" presStyleIdx="2" presStyleCnt="11">
        <dgm:presLayoutVars>
          <dgm:chMax val="0"/>
          <dgm:bulletEnabled val="1"/>
        </dgm:presLayoutVars>
      </dgm:prSet>
      <dgm:spPr/>
    </dgm:pt>
    <dgm:pt modelId="{A4098F96-8ACA-6144-B59E-9E91201F0E5E}" type="pres">
      <dgm:prSet presAssocID="{F7E1A190-01AC-4980-9E18-2796BDDC6517}" presName="spacer" presStyleCnt="0"/>
      <dgm:spPr/>
    </dgm:pt>
    <dgm:pt modelId="{4E7DB71C-D633-1C42-825F-A6667DB7D7D8}" type="pres">
      <dgm:prSet presAssocID="{CE1DD720-48B0-485C-980C-998204CEC79A}" presName="parentText" presStyleLbl="node1" presStyleIdx="3" presStyleCnt="11">
        <dgm:presLayoutVars>
          <dgm:chMax val="0"/>
          <dgm:bulletEnabled val="1"/>
        </dgm:presLayoutVars>
      </dgm:prSet>
      <dgm:spPr>
        <a:xfrm>
          <a:off x="0" y="1136880"/>
          <a:ext cx="6172199" cy="341786"/>
        </a:xfrm>
        <a:prstGeom prst="roundRect">
          <a:avLst/>
        </a:prstGeom>
      </dgm:spPr>
    </dgm:pt>
    <dgm:pt modelId="{FDEB4FC0-C7AD-6C4D-80F6-C889B89D96A2}" type="pres">
      <dgm:prSet presAssocID="{1FF0B5A5-4B8D-4EB6-8C7A-83E09A77229B}" presName="spacer" presStyleCnt="0"/>
      <dgm:spPr/>
    </dgm:pt>
    <dgm:pt modelId="{F04B18D2-EA41-824E-B7AF-FF59F48C7A27}" type="pres">
      <dgm:prSet presAssocID="{D74BDA1D-E83B-44A3-B356-FD40C336BEDE}" presName="parentText" presStyleLbl="node1" presStyleIdx="4" presStyleCnt="11">
        <dgm:presLayoutVars>
          <dgm:chMax val="0"/>
          <dgm:bulletEnabled val="1"/>
        </dgm:presLayoutVars>
      </dgm:prSet>
      <dgm:spPr>
        <a:xfrm>
          <a:off x="0" y="1513226"/>
          <a:ext cx="6172199" cy="341786"/>
        </a:xfrm>
        <a:prstGeom prst="roundRect">
          <a:avLst/>
        </a:prstGeom>
      </dgm:spPr>
    </dgm:pt>
    <dgm:pt modelId="{A505169D-922D-2445-8E9D-D15F5825CA4F}" type="pres">
      <dgm:prSet presAssocID="{D970D3B1-2203-4C16-BDF3-7D034417AEB8}" presName="spacer" presStyleCnt="0"/>
      <dgm:spPr/>
    </dgm:pt>
    <dgm:pt modelId="{FE9724FB-3B22-F54E-BB6D-10E7B37AA434}" type="pres">
      <dgm:prSet presAssocID="{C44240BD-40C5-4F56-A0DC-70AECCCAC660}" presName="parentText" presStyleLbl="node1" presStyleIdx="5" presStyleCnt="11">
        <dgm:presLayoutVars>
          <dgm:chMax val="0"/>
          <dgm:bulletEnabled val="1"/>
        </dgm:presLayoutVars>
      </dgm:prSet>
      <dgm:spPr>
        <a:xfrm>
          <a:off x="0" y="1889573"/>
          <a:ext cx="6172199" cy="341786"/>
        </a:xfrm>
        <a:prstGeom prst="roundRect">
          <a:avLst/>
        </a:prstGeom>
      </dgm:spPr>
    </dgm:pt>
    <dgm:pt modelId="{5A8A42DF-CED4-EB4A-9ECF-5DC31C18213B}" type="pres">
      <dgm:prSet presAssocID="{0ECD7801-F5A0-4394-BF2E-D4F2DA9E948C}" presName="spacer" presStyleCnt="0"/>
      <dgm:spPr/>
    </dgm:pt>
    <dgm:pt modelId="{57928E1D-8D35-0640-A52F-AA24A7852D66}" type="pres">
      <dgm:prSet presAssocID="{106BF7EA-7675-4DDB-B486-058CEFD03DB6}" presName="parentText" presStyleLbl="node1" presStyleIdx="6" presStyleCnt="11">
        <dgm:presLayoutVars>
          <dgm:chMax val="0"/>
          <dgm:bulletEnabled val="1"/>
        </dgm:presLayoutVars>
      </dgm:prSet>
      <dgm:spPr>
        <a:xfrm>
          <a:off x="0" y="2278771"/>
          <a:ext cx="6172199" cy="316082"/>
        </a:xfrm>
        <a:prstGeom prst="roundRect">
          <a:avLst/>
        </a:prstGeom>
      </dgm:spPr>
    </dgm:pt>
    <dgm:pt modelId="{1EC827AA-AC67-8B42-A960-E1019D2876DA}" type="pres">
      <dgm:prSet presAssocID="{B35C308A-C191-401D-B1E3-A663F6226744}" presName="spacer" presStyleCnt="0"/>
      <dgm:spPr/>
    </dgm:pt>
    <dgm:pt modelId="{27F0490F-50D5-1846-8958-01CED48A40EF}" type="pres">
      <dgm:prSet presAssocID="{DCD16D31-2AF4-46E4-A7DD-E6B1E2070568}" presName="parentText" presStyleLbl="node1" presStyleIdx="7" presStyleCnt="11">
        <dgm:presLayoutVars>
          <dgm:chMax val="0"/>
          <dgm:bulletEnabled val="1"/>
        </dgm:presLayoutVars>
      </dgm:prSet>
      <dgm:spPr>
        <a:xfrm>
          <a:off x="0" y="2632293"/>
          <a:ext cx="6172199" cy="316082"/>
        </a:xfrm>
        <a:prstGeom prst="roundRect">
          <a:avLst/>
        </a:prstGeom>
      </dgm:spPr>
    </dgm:pt>
    <dgm:pt modelId="{CE577BD0-3193-0D48-8D8F-4BB30B45092B}" type="pres">
      <dgm:prSet presAssocID="{ECD406CF-B5D1-4802-858C-5F42F1096FEA}" presName="spacer" presStyleCnt="0"/>
      <dgm:spPr/>
    </dgm:pt>
    <dgm:pt modelId="{5BC8F3A3-33DD-2D4D-A92C-EA0FE22C6B4F}" type="pres">
      <dgm:prSet presAssocID="{5FE84925-FD30-4B59-835A-64589C96F3FB}" presName="parentText" presStyleLbl="node1" presStyleIdx="8" presStyleCnt="11">
        <dgm:presLayoutVars>
          <dgm:chMax val="0"/>
          <dgm:bulletEnabled val="1"/>
        </dgm:presLayoutVars>
      </dgm:prSet>
      <dgm:spPr>
        <a:xfrm>
          <a:off x="0" y="2985816"/>
          <a:ext cx="6172199" cy="316082"/>
        </a:xfrm>
        <a:prstGeom prst="roundRect">
          <a:avLst/>
        </a:prstGeom>
      </dgm:spPr>
    </dgm:pt>
    <dgm:pt modelId="{B3294C53-4A09-3741-B368-B4242F480394}" type="pres">
      <dgm:prSet presAssocID="{C0A5DDDB-C85B-451E-BDDE-B4C45175346A}" presName="spacer" presStyleCnt="0"/>
      <dgm:spPr/>
    </dgm:pt>
    <dgm:pt modelId="{5443AF79-12C9-E447-B5D4-200E00F4BC97}" type="pres">
      <dgm:prSet presAssocID="{D60D54AB-C0C0-47AD-BC71-23373A7429BB}" presName="parentText" presStyleLbl="node1" presStyleIdx="9" presStyleCnt="11">
        <dgm:presLayoutVars>
          <dgm:chMax val="0"/>
          <dgm:bulletEnabled val="1"/>
        </dgm:presLayoutVars>
      </dgm:prSet>
      <dgm:spPr>
        <a:xfrm>
          <a:off x="0" y="3339339"/>
          <a:ext cx="6172199" cy="316082"/>
        </a:xfrm>
        <a:prstGeom prst="roundRect">
          <a:avLst/>
        </a:prstGeom>
      </dgm:spPr>
    </dgm:pt>
    <dgm:pt modelId="{E1E2A2F0-6111-C34B-8C80-2513C8295C5C}" type="pres">
      <dgm:prSet presAssocID="{C0D2A9F8-09AA-4671-9136-70326393384D}" presName="spacer" presStyleCnt="0"/>
      <dgm:spPr/>
    </dgm:pt>
    <dgm:pt modelId="{C83003C5-6F56-DC40-8A02-2544066B310A}" type="pres">
      <dgm:prSet presAssocID="{8566D3A0-D7B3-F642-ACAF-21B587E0D9B5}" presName="parentText" presStyleLbl="node1" presStyleIdx="10" presStyleCnt="11">
        <dgm:presLayoutVars>
          <dgm:chMax val="0"/>
          <dgm:bulletEnabled val="1"/>
        </dgm:presLayoutVars>
      </dgm:prSet>
      <dgm:spPr>
        <a:prstGeom prst="roundRect">
          <a:avLst/>
        </a:prstGeom>
      </dgm:spPr>
    </dgm:pt>
  </dgm:ptLst>
  <dgm:cxnLst>
    <dgm:cxn modelId="{5EDCBD0E-1772-294F-92C8-3B8001004A8A}" type="presOf" srcId="{33777F44-07D1-4040-B2D3-E60FE2B577A9}" destId="{FA525F5C-FDD7-0544-A1E1-D506EA4DEBFA}" srcOrd="0" destOrd="0" presId="urn:microsoft.com/office/officeart/2005/8/layout/vList2"/>
    <dgm:cxn modelId="{D3577621-C689-45AB-9F62-71FBBAA21215}" srcId="{33777F44-07D1-4040-B2D3-E60FE2B577A9}" destId="{C44240BD-40C5-4F56-A0DC-70AECCCAC660}" srcOrd="5" destOrd="0" parTransId="{539EBD2D-C986-4425-A486-1105009F7709}" sibTransId="{0ECD7801-F5A0-4394-BF2E-D4F2DA9E948C}"/>
    <dgm:cxn modelId="{F4588726-1A33-BF48-A18D-34CF7F52B51A}" type="presOf" srcId="{5FE84925-FD30-4B59-835A-64589C96F3FB}" destId="{5BC8F3A3-33DD-2D4D-A92C-EA0FE22C6B4F}" srcOrd="0" destOrd="0" presId="urn:microsoft.com/office/officeart/2005/8/layout/vList2"/>
    <dgm:cxn modelId="{B5D1902A-43AE-CB44-B9E1-06C3B9F6948F}" type="presOf" srcId="{A663AC63-060A-4BF6-9077-6B235B725138}" destId="{0F658157-BFE9-CF4C-B448-35386B2C095D}" srcOrd="0" destOrd="0" presId="urn:microsoft.com/office/officeart/2005/8/layout/vList2"/>
    <dgm:cxn modelId="{26E05F37-2605-6746-AF93-95E116F22CBC}" type="presOf" srcId="{D74BDA1D-E83B-44A3-B356-FD40C336BEDE}" destId="{F04B18D2-EA41-824E-B7AF-FF59F48C7A27}" srcOrd="0" destOrd="0" presId="urn:microsoft.com/office/officeart/2005/8/layout/vList2"/>
    <dgm:cxn modelId="{BA623152-0CAA-4F18-8629-3A132260526A}" srcId="{33777F44-07D1-4040-B2D3-E60FE2B577A9}" destId="{CE1DD720-48B0-485C-980C-998204CEC79A}" srcOrd="3" destOrd="0" parTransId="{60F0888C-C30C-4C21-8A98-5A296B5FE81F}" sibTransId="{1FF0B5A5-4B8D-4EB6-8C7A-83E09A77229B}"/>
    <dgm:cxn modelId="{C3E7EA68-B88A-49D7-B055-88F6B3A5DAA7}" srcId="{33777F44-07D1-4040-B2D3-E60FE2B577A9}" destId="{DCD16D31-2AF4-46E4-A7DD-E6B1E2070568}" srcOrd="7" destOrd="0" parTransId="{99AD6455-CB3F-49B2-B5B3-E2A39260EB3C}" sibTransId="{ECD406CF-B5D1-4802-858C-5F42F1096FEA}"/>
    <dgm:cxn modelId="{BC293B7D-71DC-411C-9ADF-E3417E3ECCF7}" srcId="{33777F44-07D1-4040-B2D3-E60FE2B577A9}" destId="{A663AC63-060A-4BF6-9077-6B235B725138}" srcOrd="0" destOrd="0" parTransId="{4DDAEC35-5495-43A9-8F10-296574F22CF5}" sibTransId="{7926FD6D-4403-4E68-AAF8-5C58C96F06B9}"/>
    <dgm:cxn modelId="{5917087F-9A33-E34E-9759-28271613591E}" type="presOf" srcId="{8566D3A0-D7B3-F642-ACAF-21B587E0D9B5}" destId="{C83003C5-6F56-DC40-8A02-2544066B310A}" srcOrd="0" destOrd="0" presId="urn:microsoft.com/office/officeart/2005/8/layout/vList2"/>
    <dgm:cxn modelId="{0A13B08D-A171-054D-A0B8-ABA987D88773}" type="presOf" srcId="{106BF7EA-7675-4DDB-B486-058CEFD03DB6}" destId="{57928E1D-8D35-0640-A52F-AA24A7852D66}" srcOrd="0" destOrd="0" presId="urn:microsoft.com/office/officeart/2005/8/layout/vList2"/>
    <dgm:cxn modelId="{C8659AAE-30CB-3344-8F85-EECFAF0184F8}" type="presOf" srcId="{DCD16D31-2AF4-46E4-A7DD-E6B1E2070568}" destId="{27F0490F-50D5-1846-8958-01CED48A40EF}" srcOrd="0" destOrd="0" presId="urn:microsoft.com/office/officeart/2005/8/layout/vList2"/>
    <dgm:cxn modelId="{E29E0EBC-39FF-854F-866A-4AF7D5252F4D}" type="presOf" srcId="{D60D54AB-C0C0-47AD-BC71-23373A7429BB}" destId="{5443AF79-12C9-E447-B5D4-200E00F4BC97}" srcOrd="0" destOrd="0" presId="urn:microsoft.com/office/officeart/2005/8/layout/vList2"/>
    <dgm:cxn modelId="{1A7912CE-2F94-1D45-A325-2E14ED6E9E62}" type="presOf" srcId="{CE1DD720-48B0-485C-980C-998204CEC79A}" destId="{4E7DB71C-D633-1C42-825F-A6667DB7D7D8}" srcOrd="0" destOrd="0" presId="urn:microsoft.com/office/officeart/2005/8/layout/vList2"/>
    <dgm:cxn modelId="{6703F8CF-B7B3-3147-B062-FD1B265D1379}" type="presOf" srcId="{79B83826-BF7E-4AF0-B1C8-6A6229CB3F46}" destId="{449DD96B-A37A-F349-BB9F-4429BE218E30}" srcOrd="0" destOrd="0" presId="urn:microsoft.com/office/officeart/2005/8/layout/vList2"/>
    <dgm:cxn modelId="{CBFE59DE-E5A5-475F-B327-1CEF865B9498}" srcId="{33777F44-07D1-4040-B2D3-E60FE2B577A9}" destId="{5FE84925-FD30-4B59-835A-64589C96F3FB}" srcOrd="8" destOrd="0" parTransId="{8EF8C614-D1F6-49C4-B745-D6063EADBD73}" sibTransId="{C0A5DDDB-C85B-451E-BDDE-B4C45175346A}"/>
    <dgm:cxn modelId="{BE5354E2-B7FB-E649-AE1D-BA974EAEA212}" srcId="{33777F44-07D1-4040-B2D3-E60FE2B577A9}" destId="{8566D3A0-D7B3-F642-ACAF-21B587E0D9B5}" srcOrd="10" destOrd="0" parTransId="{01DAE862-4C98-C54C-9BF3-B80451FC6258}" sibTransId="{483A00A7-3E0D-D240-8181-175CB0EE8665}"/>
    <dgm:cxn modelId="{29FBB2E8-5DFC-43F3-B834-1ECAF4D9FF83}" srcId="{33777F44-07D1-4040-B2D3-E60FE2B577A9}" destId="{D74BDA1D-E83B-44A3-B356-FD40C336BEDE}" srcOrd="4" destOrd="0" parTransId="{9924A066-C810-4497-BC6D-D54C37952783}" sibTransId="{D970D3B1-2203-4C16-BDF3-7D034417AEB8}"/>
    <dgm:cxn modelId="{50F14CE9-1780-F841-A730-525CB5698806}" type="presOf" srcId="{B858CE3B-0D60-47E3-B57D-3F495712D492}" destId="{0D5017EF-DC98-B349-8F45-61D85C26E119}" srcOrd="0" destOrd="0" presId="urn:microsoft.com/office/officeart/2005/8/layout/vList2"/>
    <dgm:cxn modelId="{84E88AF2-5D4D-2543-8ED3-FBD9B0954C2E}" type="presOf" srcId="{C44240BD-40C5-4F56-A0DC-70AECCCAC660}" destId="{FE9724FB-3B22-F54E-BB6D-10E7B37AA434}" srcOrd="0" destOrd="0" presId="urn:microsoft.com/office/officeart/2005/8/layout/vList2"/>
    <dgm:cxn modelId="{C36460F5-49F2-4931-B3EE-654E2E279B10}" srcId="{33777F44-07D1-4040-B2D3-E60FE2B577A9}" destId="{D60D54AB-C0C0-47AD-BC71-23373A7429BB}" srcOrd="9" destOrd="0" parTransId="{FF829405-BB17-4D3E-9A88-40CC84B3021A}" sibTransId="{C0D2A9F8-09AA-4671-9136-70326393384D}"/>
    <dgm:cxn modelId="{A9C498F7-7953-451D-87FB-99C9E7FCE642}" srcId="{33777F44-07D1-4040-B2D3-E60FE2B577A9}" destId="{79B83826-BF7E-4AF0-B1C8-6A6229CB3F46}" srcOrd="1" destOrd="0" parTransId="{42956EF3-68E7-4C77-B725-2F1F63374B03}" sibTransId="{C9397740-D1F9-4D93-A1E1-8C97513079C2}"/>
    <dgm:cxn modelId="{0DD4ADFA-695F-4B81-B7E8-1DEE36D0A0A1}" srcId="{33777F44-07D1-4040-B2D3-E60FE2B577A9}" destId="{106BF7EA-7675-4DDB-B486-058CEFD03DB6}" srcOrd="6" destOrd="0" parTransId="{06B126BF-F5FE-4940-B2F9-9357F5082144}" sibTransId="{B35C308A-C191-401D-B1E3-A663F6226744}"/>
    <dgm:cxn modelId="{0461B0FC-3962-41F4-B75C-3B115650229A}" srcId="{33777F44-07D1-4040-B2D3-E60FE2B577A9}" destId="{B858CE3B-0D60-47E3-B57D-3F495712D492}" srcOrd="2" destOrd="0" parTransId="{73AC8442-BDA4-4494-BFDE-70B9A539629E}" sibTransId="{F7E1A190-01AC-4980-9E18-2796BDDC6517}"/>
    <dgm:cxn modelId="{876C34A9-3890-6E4D-B7A5-3E322A9F2E4B}" type="presParOf" srcId="{FA525F5C-FDD7-0544-A1E1-D506EA4DEBFA}" destId="{0F658157-BFE9-CF4C-B448-35386B2C095D}" srcOrd="0" destOrd="0" presId="urn:microsoft.com/office/officeart/2005/8/layout/vList2"/>
    <dgm:cxn modelId="{ABC4D95D-74A0-8D4E-B253-787D51488C60}" type="presParOf" srcId="{FA525F5C-FDD7-0544-A1E1-D506EA4DEBFA}" destId="{514FC0BA-ED54-5644-80C8-D1360B3738DF}" srcOrd="1" destOrd="0" presId="urn:microsoft.com/office/officeart/2005/8/layout/vList2"/>
    <dgm:cxn modelId="{57533121-9DC1-1F47-996C-5494FA61D35F}" type="presParOf" srcId="{FA525F5C-FDD7-0544-A1E1-D506EA4DEBFA}" destId="{449DD96B-A37A-F349-BB9F-4429BE218E30}" srcOrd="2" destOrd="0" presId="urn:microsoft.com/office/officeart/2005/8/layout/vList2"/>
    <dgm:cxn modelId="{225027D5-8CA7-E940-9EB7-EC3BC4EFD1DF}" type="presParOf" srcId="{FA525F5C-FDD7-0544-A1E1-D506EA4DEBFA}" destId="{2E04EBA3-2014-A547-968E-799891D00421}" srcOrd="3" destOrd="0" presId="urn:microsoft.com/office/officeart/2005/8/layout/vList2"/>
    <dgm:cxn modelId="{90F9AB3F-0C37-0340-BA6B-8B3FA8E9CB20}" type="presParOf" srcId="{FA525F5C-FDD7-0544-A1E1-D506EA4DEBFA}" destId="{0D5017EF-DC98-B349-8F45-61D85C26E119}" srcOrd="4" destOrd="0" presId="urn:microsoft.com/office/officeart/2005/8/layout/vList2"/>
    <dgm:cxn modelId="{16741DF0-7656-7F42-AAD5-5807ED595EEA}" type="presParOf" srcId="{FA525F5C-FDD7-0544-A1E1-D506EA4DEBFA}" destId="{A4098F96-8ACA-6144-B59E-9E91201F0E5E}" srcOrd="5" destOrd="0" presId="urn:microsoft.com/office/officeart/2005/8/layout/vList2"/>
    <dgm:cxn modelId="{CB0FE5E3-6273-D54E-99FB-71EE07DCCDBC}" type="presParOf" srcId="{FA525F5C-FDD7-0544-A1E1-D506EA4DEBFA}" destId="{4E7DB71C-D633-1C42-825F-A6667DB7D7D8}" srcOrd="6" destOrd="0" presId="urn:microsoft.com/office/officeart/2005/8/layout/vList2"/>
    <dgm:cxn modelId="{3D5FB9BE-1837-7344-9D72-BD7DE0B3ADD1}" type="presParOf" srcId="{FA525F5C-FDD7-0544-A1E1-D506EA4DEBFA}" destId="{FDEB4FC0-C7AD-6C4D-80F6-C889B89D96A2}" srcOrd="7" destOrd="0" presId="urn:microsoft.com/office/officeart/2005/8/layout/vList2"/>
    <dgm:cxn modelId="{AE1F3582-88CC-E041-98CB-3978BA8C5106}" type="presParOf" srcId="{FA525F5C-FDD7-0544-A1E1-D506EA4DEBFA}" destId="{F04B18D2-EA41-824E-B7AF-FF59F48C7A27}" srcOrd="8" destOrd="0" presId="urn:microsoft.com/office/officeart/2005/8/layout/vList2"/>
    <dgm:cxn modelId="{004BDA02-CDC4-5D42-AA1E-7739940696B5}" type="presParOf" srcId="{FA525F5C-FDD7-0544-A1E1-D506EA4DEBFA}" destId="{A505169D-922D-2445-8E9D-D15F5825CA4F}" srcOrd="9" destOrd="0" presId="urn:microsoft.com/office/officeart/2005/8/layout/vList2"/>
    <dgm:cxn modelId="{D5EAE2D4-FDFF-044D-AFC7-88BD19F53662}" type="presParOf" srcId="{FA525F5C-FDD7-0544-A1E1-D506EA4DEBFA}" destId="{FE9724FB-3B22-F54E-BB6D-10E7B37AA434}" srcOrd="10" destOrd="0" presId="urn:microsoft.com/office/officeart/2005/8/layout/vList2"/>
    <dgm:cxn modelId="{C474A8D7-0DB7-424F-9900-DA235CDE943B}" type="presParOf" srcId="{FA525F5C-FDD7-0544-A1E1-D506EA4DEBFA}" destId="{5A8A42DF-CED4-EB4A-9ECF-5DC31C18213B}" srcOrd="11" destOrd="0" presId="urn:microsoft.com/office/officeart/2005/8/layout/vList2"/>
    <dgm:cxn modelId="{8493B519-AC0A-C946-9D03-4D0313DF916E}" type="presParOf" srcId="{FA525F5C-FDD7-0544-A1E1-D506EA4DEBFA}" destId="{57928E1D-8D35-0640-A52F-AA24A7852D66}" srcOrd="12" destOrd="0" presId="urn:microsoft.com/office/officeart/2005/8/layout/vList2"/>
    <dgm:cxn modelId="{708C2176-9993-3B43-9904-34D348B15747}" type="presParOf" srcId="{FA525F5C-FDD7-0544-A1E1-D506EA4DEBFA}" destId="{1EC827AA-AC67-8B42-A960-E1019D2876DA}" srcOrd="13" destOrd="0" presId="urn:microsoft.com/office/officeart/2005/8/layout/vList2"/>
    <dgm:cxn modelId="{2078C9B9-A192-E649-B139-8CB9D7DD9AD1}" type="presParOf" srcId="{FA525F5C-FDD7-0544-A1E1-D506EA4DEBFA}" destId="{27F0490F-50D5-1846-8958-01CED48A40EF}" srcOrd="14" destOrd="0" presId="urn:microsoft.com/office/officeart/2005/8/layout/vList2"/>
    <dgm:cxn modelId="{74F67FB1-BAF5-1845-99E9-3ECEC349E060}" type="presParOf" srcId="{FA525F5C-FDD7-0544-A1E1-D506EA4DEBFA}" destId="{CE577BD0-3193-0D48-8D8F-4BB30B45092B}" srcOrd="15" destOrd="0" presId="urn:microsoft.com/office/officeart/2005/8/layout/vList2"/>
    <dgm:cxn modelId="{2AAC98EC-315F-D546-AF1E-B98A7413005D}" type="presParOf" srcId="{FA525F5C-FDD7-0544-A1E1-D506EA4DEBFA}" destId="{5BC8F3A3-33DD-2D4D-A92C-EA0FE22C6B4F}" srcOrd="16" destOrd="0" presId="urn:microsoft.com/office/officeart/2005/8/layout/vList2"/>
    <dgm:cxn modelId="{91C084CA-8CF8-4B4A-BBB8-587E0EA9310D}" type="presParOf" srcId="{FA525F5C-FDD7-0544-A1E1-D506EA4DEBFA}" destId="{B3294C53-4A09-3741-B368-B4242F480394}" srcOrd="17" destOrd="0" presId="urn:microsoft.com/office/officeart/2005/8/layout/vList2"/>
    <dgm:cxn modelId="{7FDBBFBF-54DA-3C42-B8D0-C177FE6A9F7B}" type="presParOf" srcId="{FA525F5C-FDD7-0544-A1E1-D506EA4DEBFA}" destId="{5443AF79-12C9-E447-B5D4-200E00F4BC97}" srcOrd="18" destOrd="0" presId="urn:microsoft.com/office/officeart/2005/8/layout/vList2"/>
    <dgm:cxn modelId="{4E4A3534-E4E6-DF44-AFF2-FD541295DF35}" type="presParOf" srcId="{FA525F5C-FDD7-0544-A1E1-D506EA4DEBFA}" destId="{E1E2A2F0-6111-C34B-8C80-2513C8295C5C}" srcOrd="19" destOrd="0" presId="urn:microsoft.com/office/officeart/2005/8/layout/vList2"/>
    <dgm:cxn modelId="{7712FB33-2FCB-D546-99AB-31B65AF6C90E}" type="presParOf" srcId="{FA525F5C-FDD7-0544-A1E1-D506EA4DEBFA}" destId="{C83003C5-6F56-DC40-8A02-2544066B310A}" srcOrd="2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658157-BFE9-CF4C-B448-35386B2C095D}">
      <dsp:nvSpPr>
        <dsp:cNvPr id="0" name=""/>
        <dsp:cNvSpPr/>
      </dsp:nvSpPr>
      <dsp:spPr>
        <a:xfrm>
          <a:off x="0" y="89612"/>
          <a:ext cx="6172199" cy="374400"/>
        </a:xfrm>
        <a:prstGeom prst="roundRect">
          <a:avLst/>
        </a:prstGeom>
        <a:solidFill>
          <a:schemeClr val="accent1">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Cross Correlation Theory</a:t>
          </a:r>
        </a:p>
      </dsp:txBody>
      <dsp:txXfrm>
        <a:off x="18277" y="107889"/>
        <a:ext cx="6135645" cy="337846"/>
      </dsp:txXfrm>
    </dsp:sp>
    <dsp:sp modelId="{449DD96B-A37A-F349-BB9F-4429BE218E30}">
      <dsp:nvSpPr>
        <dsp:cNvPr id="0" name=""/>
        <dsp:cNvSpPr/>
      </dsp:nvSpPr>
      <dsp:spPr>
        <a:xfrm>
          <a:off x="0" y="521612"/>
          <a:ext cx="6172199" cy="374400"/>
        </a:xfrm>
        <a:prstGeom prst="roundRect">
          <a:avLst/>
        </a:prstGeom>
        <a:solidFill>
          <a:schemeClr val="bg1">
            <a:lumMod val="9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kern="1200" cap="none" spc="0" dirty="0">
              <a:ln w="0"/>
              <a:solidFill>
                <a:schemeClr val="tx1"/>
              </a:solidFill>
              <a:effectLst>
                <a:outerShdw blurRad="38100" dist="19050" dir="2700000" algn="tl" rotWithShape="0">
                  <a:schemeClr val="dk1">
                    <a:alpha val="40000"/>
                  </a:schemeClr>
                </a:outerShdw>
              </a:effectLst>
            </a:rPr>
            <a:t>How Cross Correlation is Used in Seismic Phase Velocity</a:t>
          </a:r>
        </a:p>
      </dsp:txBody>
      <dsp:txXfrm>
        <a:off x="18277" y="539889"/>
        <a:ext cx="6135645" cy="337846"/>
      </dsp:txXfrm>
    </dsp:sp>
    <dsp:sp modelId="{0D5017EF-DC98-B349-8F45-61D85C26E119}">
      <dsp:nvSpPr>
        <dsp:cNvPr id="0" name=""/>
        <dsp:cNvSpPr/>
      </dsp:nvSpPr>
      <dsp:spPr>
        <a:xfrm>
          <a:off x="0" y="953612"/>
          <a:ext cx="6172199" cy="374400"/>
        </a:xfrm>
        <a:prstGeom prst="roundRect">
          <a:avLst/>
        </a:prstGeom>
        <a:solidFill>
          <a:schemeClr val="accent4">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Challenges in Surface Wave (Especially Love Wave)</a:t>
          </a:r>
        </a:p>
      </dsp:txBody>
      <dsp:txXfrm>
        <a:off x="18277" y="971889"/>
        <a:ext cx="6135645" cy="337846"/>
      </dsp:txXfrm>
    </dsp:sp>
    <dsp:sp modelId="{4E7DB71C-D633-1C42-825F-A6667DB7D7D8}">
      <dsp:nvSpPr>
        <dsp:cNvPr id="0" name=""/>
        <dsp:cNvSpPr/>
      </dsp:nvSpPr>
      <dsp:spPr>
        <a:xfrm>
          <a:off x="0" y="1385612"/>
          <a:ext cx="6172199" cy="374400"/>
        </a:xfrm>
        <a:prstGeom prst="roundRect">
          <a:avLst/>
        </a:prstGeom>
        <a:solidFill>
          <a:srgbClr val="4472C4">
            <a:lumMod val="50000"/>
          </a:srgb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Multi-Taper Technique Introduction </a:t>
          </a:r>
        </a:p>
      </dsp:txBody>
      <dsp:txXfrm>
        <a:off x="18277" y="1403889"/>
        <a:ext cx="6135645" cy="337846"/>
      </dsp:txXfrm>
    </dsp:sp>
    <dsp:sp modelId="{F04B18D2-EA41-824E-B7AF-FF59F48C7A27}">
      <dsp:nvSpPr>
        <dsp:cNvPr id="0" name=""/>
        <dsp:cNvSpPr/>
      </dsp:nvSpPr>
      <dsp:spPr>
        <a:xfrm>
          <a:off x="0" y="1817612"/>
          <a:ext cx="6172199" cy="374400"/>
        </a:xfrm>
        <a:prstGeom prst="roundRect">
          <a:avLst/>
        </a:prstGeom>
        <a:solidFill>
          <a:prstClr val="white">
            <a:lumMod val="95000"/>
          </a:prst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kern="1200" cap="none" spc="0" dirty="0">
              <a:ln w="0"/>
              <a:solidFill>
                <a:prstClr val="black"/>
              </a:solidFill>
              <a:effectLst>
                <a:outerShdw blurRad="38100" dist="19050" dir="2700000" algn="tl" rotWithShape="0">
                  <a:prstClr val="black">
                    <a:alpha val="40000"/>
                  </a:prstClr>
                </a:outerShdw>
              </a:effectLst>
              <a:latin typeface="Calibri" panose="020F0502020204030204"/>
              <a:ea typeface="+mn-ea"/>
              <a:cs typeface="+mn-cs"/>
            </a:rPr>
            <a:t>Multi-Taper on Synthetic Dataset</a:t>
          </a:r>
        </a:p>
      </dsp:txBody>
      <dsp:txXfrm>
        <a:off x="18277" y="1835889"/>
        <a:ext cx="6135645" cy="337846"/>
      </dsp:txXfrm>
    </dsp:sp>
    <dsp:sp modelId="{FE9724FB-3B22-F54E-BB6D-10E7B37AA434}">
      <dsp:nvSpPr>
        <dsp:cNvPr id="0" name=""/>
        <dsp:cNvSpPr/>
      </dsp:nvSpPr>
      <dsp:spPr>
        <a:xfrm>
          <a:off x="0" y="2249612"/>
          <a:ext cx="6172199" cy="374400"/>
        </a:xfrm>
        <a:prstGeom prst="roundRect">
          <a:avLst/>
        </a:prstGeom>
        <a:solidFill>
          <a:srgbClr val="FFC000">
            <a:lumMod val="75000"/>
          </a:srgb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Results: Frequency and Time Domain CCF Examples</a:t>
          </a:r>
        </a:p>
      </dsp:txBody>
      <dsp:txXfrm>
        <a:off x="18277" y="2267889"/>
        <a:ext cx="6135645" cy="337846"/>
      </dsp:txXfrm>
    </dsp:sp>
    <dsp:sp modelId="{57928E1D-8D35-0640-A52F-AA24A7852D66}">
      <dsp:nvSpPr>
        <dsp:cNvPr id="0" name=""/>
        <dsp:cNvSpPr/>
      </dsp:nvSpPr>
      <dsp:spPr>
        <a:xfrm>
          <a:off x="0" y="2681612"/>
          <a:ext cx="6172199" cy="374400"/>
        </a:xfrm>
        <a:prstGeom prst="roundRect">
          <a:avLst/>
        </a:prstGeom>
        <a:solidFill>
          <a:srgbClr val="4472C4">
            <a:lumMod val="50000"/>
          </a:srgb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Results: Time Domain Correlation Wavefield</a:t>
          </a:r>
        </a:p>
      </dsp:txBody>
      <dsp:txXfrm>
        <a:off x="18277" y="2699889"/>
        <a:ext cx="6135645" cy="337846"/>
      </dsp:txXfrm>
    </dsp:sp>
    <dsp:sp modelId="{27F0490F-50D5-1846-8958-01CED48A40EF}">
      <dsp:nvSpPr>
        <dsp:cNvPr id="0" name=""/>
        <dsp:cNvSpPr/>
      </dsp:nvSpPr>
      <dsp:spPr>
        <a:xfrm>
          <a:off x="0" y="3113612"/>
          <a:ext cx="6172199" cy="374400"/>
        </a:xfrm>
        <a:prstGeom prst="roundRect">
          <a:avLst/>
        </a:prstGeom>
        <a:solidFill>
          <a:prstClr val="white">
            <a:lumMod val="95000"/>
          </a:prst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kern="1200" cap="none" spc="0" dirty="0">
              <a:ln w="0"/>
              <a:solidFill>
                <a:prstClr val="black"/>
              </a:solidFill>
              <a:effectLst>
                <a:outerShdw blurRad="38100" dist="19050" dir="2700000" algn="tl" rotWithShape="0">
                  <a:prstClr val="black">
                    <a:alpha val="40000"/>
                  </a:prstClr>
                </a:outerShdw>
              </a:effectLst>
              <a:latin typeface="Calibri" panose="020F0502020204030204"/>
              <a:ea typeface="+mn-ea"/>
              <a:cs typeface="+mn-cs"/>
            </a:rPr>
            <a:t>Results: Frequency Domain Correlation Wavefield</a:t>
          </a:r>
        </a:p>
      </dsp:txBody>
      <dsp:txXfrm>
        <a:off x="18277" y="3131889"/>
        <a:ext cx="6135645" cy="337846"/>
      </dsp:txXfrm>
    </dsp:sp>
    <dsp:sp modelId="{5BC8F3A3-33DD-2D4D-A92C-EA0FE22C6B4F}">
      <dsp:nvSpPr>
        <dsp:cNvPr id="0" name=""/>
        <dsp:cNvSpPr/>
      </dsp:nvSpPr>
      <dsp:spPr>
        <a:xfrm>
          <a:off x="0" y="3545612"/>
          <a:ext cx="6172199" cy="374400"/>
        </a:xfrm>
        <a:prstGeom prst="roundRect">
          <a:avLst/>
        </a:prstGeom>
        <a:solidFill>
          <a:srgbClr val="FFC000">
            <a:lumMod val="75000"/>
          </a:srgb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Results: Phase Velocity Computations with SeisLib</a:t>
          </a:r>
        </a:p>
      </dsp:txBody>
      <dsp:txXfrm>
        <a:off x="18277" y="3563889"/>
        <a:ext cx="6135645" cy="337846"/>
      </dsp:txXfrm>
    </dsp:sp>
    <dsp:sp modelId="{5443AF79-12C9-E447-B5D4-200E00F4BC97}">
      <dsp:nvSpPr>
        <dsp:cNvPr id="0" name=""/>
        <dsp:cNvSpPr/>
      </dsp:nvSpPr>
      <dsp:spPr>
        <a:xfrm>
          <a:off x="0" y="3977612"/>
          <a:ext cx="6172199" cy="374400"/>
        </a:xfrm>
        <a:prstGeom prst="roundRect">
          <a:avLst/>
        </a:prstGeom>
        <a:solidFill>
          <a:srgbClr val="4472C4">
            <a:lumMod val="50000"/>
          </a:srgb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solidFill>
                <a:prstClr val="white"/>
              </a:solidFill>
              <a:latin typeface="Calibri" panose="020F0502020204030204"/>
              <a:ea typeface="+mn-ea"/>
              <a:cs typeface="+mn-cs"/>
            </a:rPr>
            <a:t>Results: Zero Crossings Analysis</a:t>
          </a:r>
        </a:p>
      </dsp:txBody>
      <dsp:txXfrm>
        <a:off x="18277" y="3995889"/>
        <a:ext cx="6135645" cy="337846"/>
      </dsp:txXfrm>
    </dsp:sp>
    <dsp:sp modelId="{C83003C5-6F56-DC40-8A02-2544066B310A}">
      <dsp:nvSpPr>
        <dsp:cNvPr id="0" name=""/>
        <dsp:cNvSpPr/>
      </dsp:nvSpPr>
      <dsp:spPr>
        <a:xfrm>
          <a:off x="0" y="4409612"/>
          <a:ext cx="6172199" cy="374400"/>
        </a:xfrm>
        <a:prstGeom prst="roundRect">
          <a:avLst/>
        </a:prstGeom>
        <a:solidFill>
          <a:prstClr val="white">
            <a:lumMod val="95000"/>
          </a:prst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kern="1200" cap="none" spc="0" dirty="0">
              <a:ln w="0"/>
              <a:solidFill>
                <a:prstClr val="black"/>
              </a:solidFill>
              <a:effectLst>
                <a:outerShdw blurRad="38100" dist="19050" dir="2700000" algn="tl" rotWithShape="0">
                  <a:prstClr val="black">
                    <a:alpha val="40000"/>
                  </a:prstClr>
                </a:outerShdw>
              </a:effectLst>
              <a:latin typeface="Calibri" panose="020F0502020204030204"/>
              <a:ea typeface="+mn-ea"/>
              <a:cs typeface="+mn-cs"/>
            </a:rPr>
            <a:t>References</a:t>
          </a:r>
        </a:p>
      </dsp:txBody>
      <dsp:txXfrm>
        <a:off x="18277" y="4427889"/>
        <a:ext cx="6135645" cy="3378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2ABF7C-DA11-342E-0E60-4D7CEEC33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437352-9216-8632-EA0C-7A89C9A965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C1126A-8136-BB4E-BB19-6937D1220F52}" type="datetimeFigureOut">
              <a:rPr lang="en-US" smtClean="0"/>
              <a:t>12/5/25</a:t>
            </a:fld>
            <a:endParaRPr lang="en-US"/>
          </a:p>
        </p:txBody>
      </p:sp>
      <p:sp>
        <p:nvSpPr>
          <p:cNvPr id="4" name="Footer Placeholder 3">
            <a:extLst>
              <a:ext uri="{FF2B5EF4-FFF2-40B4-BE49-F238E27FC236}">
                <a16:creationId xmlns:a16="http://schemas.microsoft.com/office/drawing/2014/main" id="{9DFB1AAE-69F6-3A3F-B2D1-818770A83A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2F9A805-D7CB-7DE1-BB6C-F6D467AC58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92C145-4B17-A149-9A79-594BD0469E4C}" type="slidenum">
              <a:rPr lang="en-US" smtClean="0"/>
              <a:t>‹#›</a:t>
            </a:fld>
            <a:endParaRPr lang="en-US"/>
          </a:p>
        </p:txBody>
      </p:sp>
    </p:spTree>
    <p:extLst>
      <p:ext uri="{BB962C8B-B14F-4D97-AF65-F5344CB8AC3E}">
        <p14:creationId xmlns:p14="http://schemas.microsoft.com/office/powerpoint/2010/main" val="84273874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E01008-459A-7A4B-A358-E86A8032DBB4}" type="datetimeFigureOut">
              <a:rPr lang="en-US" smtClean="0"/>
              <a:t>12/5/25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19ABF-BAA5-984C-840B-78F96C47A379}" type="slidenum">
              <a:rPr lang="en-US" smtClean="0"/>
              <a:t>‹#›</a:t>
            </a:fld>
            <a:endParaRPr lang="en-US"/>
          </a:p>
        </p:txBody>
      </p:sp>
    </p:spTree>
    <p:extLst>
      <p:ext uri="{BB962C8B-B14F-4D97-AF65-F5344CB8AC3E}">
        <p14:creationId xmlns:p14="http://schemas.microsoft.com/office/powerpoint/2010/main" val="4694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Comments:</a:t>
            </a:r>
          </a:p>
          <a:p>
            <a:pPr marL="0" lvl="0" indent="0" algn="l" rtl="0">
              <a:lnSpc>
                <a:spcPct val="117999"/>
              </a:lnSpc>
              <a:spcBef>
                <a:spcPts val="0"/>
              </a:spcBef>
              <a:spcAft>
                <a:spcPts val="0"/>
              </a:spcAft>
              <a:buSzPts val="1400"/>
              <a:buNone/>
            </a:pPr>
            <a:r>
              <a:rPr lang="en-US" dirty="0"/>
              <a:t>Implementation of something</a:t>
            </a:r>
          </a:p>
          <a:p>
            <a:pPr marL="0" lvl="0" indent="0" algn="l" rtl="0">
              <a:lnSpc>
                <a:spcPct val="117999"/>
              </a:lnSpc>
              <a:spcBef>
                <a:spcPts val="0"/>
              </a:spcBef>
              <a:spcAft>
                <a:spcPts val="0"/>
              </a:spcAft>
              <a:buSzPts val="1400"/>
              <a:buNone/>
            </a:pPr>
            <a:r>
              <a:rPr lang="en-US" dirty="0"/>
              <a:t>Systematic evaluation of It</a:t>
            </a:r>
          </a:p>
          <a:p>
            <a:pPr marL="0" lvl="0" indent="0" algn="l" rtl="0">
              <a:lnSpc>
                <a:spcPct val="117999"/>
              </a:lnSpc>
              <a:spcBef>
                <a:spcPts val="0"/>
              </a:spcBef>
              <a:spcAft>
                <a:spcPts val="0"/>
              </a:spcAft>
              <a:buSzPts val="1400"/>
              <a:buNone/>
            </a:pPr>
            <a:r>
              <a:rPr lang="en-US" dirty="0"/>
              <a:t>Make sure if we have metrics to show that if it works</a:t>
            </a:r>
          </a:p>
          <a:p>
            <a:pPr marL="0" lvl="0" indent="0" algn="l" rtl="0">
              <a:lnSpc>
                <a:spcPct val="117999"/>
              </a:lnSpc>
              <a:spcBef>
                <a:spcPts val="0"/>
              </a:spcBef>
              <a:spcAft>
                <a:spcPts val="0"/>
              </a:spcAft>
              <a:buSzPts val="1400"/>
              <a:buNone/>
            </a:pPr>
            <a:r>
              <a:rPr lang="en-US" dirty="0"/>
              <a:t>If it doesn't work then come up with a reason and tell why? Go back, and tell what went wrong and if it can be improved with something? What all steps did I take to check why it different work and have a report for that. Have that report that has the analysis and decide. </a:t>
            </a:r>
          </a:p>
          <a:p>
            <a:pPr marL="0" lvl="0" indent="0" algn="l" rtl="0">
              <a:lnSpc>
                <a:spcPct val="117999"/>
              </a:lnSpc>
              <a:spcBef>
                <a:spcPts val="0"/>
              </a:spcBef>
              <a:spcAft>
                <a:spcPts val="0"/>
              </a:spcAft>
              <a:buSzPts val="1400"/>
              <a:buNone/>
            </a:pPr>
            <a:endParaRPr lang="en-US" dirty="0"/>
          </a:p>
          <a:p>
            <a:pPr marL="0" lvl="0" indent="0" algn="l" rtl="0">
              <a:lnSpc>
                <a:spcPct val="117999"/>
              </a:lnSpc>
              <a:spcBef>
                <a:spcPts val="0"/>
              </a:spcBef>
              <a:spcAft>
                <a:spcPts val="0"/>
              </a:spcAft>
              <a:buSzPts val="1400"/>
              <a:buNone/>
            </a:pPr>
            <a:r>
              <a:rPr lang="en-US" dirty="0"/>
              <a:t>Can I use my beamformer as a prior than the neural net. </a:t>
            </a:r>
          </a:p>
          <a:p>
            <a:pPr marL="0" lvl="0" indent="0" algn="l" rtl="0">
              <a:lnSpc>
                <a:spcPct val="117999"/>
              </a:lnSpc>
              <a:spcBef>
                <a:spcPts val="0"/>
              </a:spcBef>
              <a:spcAft>
                <a:spcPts val="0"/>
              </a:spcAft>
              <a:buSzPts val="1400"/>
              <a:buNone/>
            </a:pPr>
            <a:endParaRPr dirty="0"/>
          </a:p>
        </p:txBody>
      </p:sp>
      <p:sp>
        <p:nvSpPr>
          <p:cNvPr id="154" name="Google Shape;15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976448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E0C4-7B86-A43B-9799-9DB01D656F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3994D4-03A2-E543-641F-8F4F5F57C1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C68B78-FD74-22C1-B398-7BBFE906AFF1}"/>
              </a:ext>
            </a:extLst>
          </p:cNvPr>
          <p:cNvSpPr>
            <a:spLocks noGrp="1"/>
          </p:cNvSpPr>
          <p:nvPr>
            <p:ph type="dt" sz="half" idx="10"/>
          </p:nvPr>
        </p:nvSpPr>
        <p:spPr>
          <a:xfrm>
            <a:off x="838200" y="6356350"/>
            <a:ext cx="2743200" cy="365125"/>
          </a:xfrm>
          <a:prstGeom prst="rect">
            <a:avLst/>
          </a:prstGeom>
        </p:spPr>
        <p:txBody>
          <a:bodyPr/>
          <a:lstStyle/>
          <a:p>
            <a:fld id="{F23D34D8-22E8-1C40-A79B-8A1214109578}" type="datetime1">
              <a:rPr lang="en-US" smtClean="0"/>
              <a:t>12/5/25</a:t>
            </a:fld>
            <a:endParaRPr lang="en-US"/>
          </a:p>
        </p:txBody>
      </p:sp>
      <p:sp>
        <p:nvSpPr>
          <p:cNvPr id="5" name="Footer Placeholder 4">
            <a:extLst>
              <a:ext uri="{FF2B5EF4-FFF2-40B4-BE49-F238E27FC236}">
                <a16:creationId xmlns:a16="http://schemas.microsoft.com/office/drawing/2014/main" id="{EEC4EFBB-B415-857C-DBF4-4388582BB79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0CD97F-3746-7B8D-BCF8-AEB8D85A1A58}"/>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3884473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F0EE5-1940-6185-95DB-4FB7711B8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1E2B2F-27E6-801B-89DE-90BD2C5E46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2E7724-CC0F-7138-4009-1E55ED8F0768}"/>
              </a:ext>
            </a:extLst>
          </p:cNvPr>
          <p:cNvSpPr>
            <a:spLocks noGrp="1"/>
          </p:cNvSpPr>
          <p:nvPr>
            <p:ph type="dt" sz="half" idx="10"/>
          </p:nvPr>
        </p:nvSpPr>
        <p:spPr>
          <a:xfrm>
            <a:off x="838200" y="6356350"/>
            <a:ext cx="2743200" cy="365125"/>
          </a:xfrm>
          <a:prstGeom prst="rect">
            <a:avLst/>
          </a:prstGeom>
        </p:spPr>
        <p:txBody>
          <a:bodyPr/>
          <a:lstStyle/>
          <a:p>
            <a:fld id="{55596CC2-DA9C-204C-A7BB-020012929235}" type="datetime1">
              <a:rPr lang="en-US" smtClean="0"/>
              <a:t>12/5/25</a:t>
            </a:fld>
            <a:endParaRPr lang="en-US"/>
          </a:p>
        </p:txBody>
      </p:sp>
      <p:sp>
        <p:nvSpPr>
          <p:cNvPr id="5" name="Footer Placeholder 4">
            <a:extLst>
              <a:ext uri="{FF2B5EF4-FFF2-40B4-BE49-F238E27FC236}">
                <a16:creationId xmlns:a16="http://schemas.microsoft.com/office/drawing/2014/main" id="{0D397705-F8AB-6389-9742-80BDD6790B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2BA1E5F0-5EA8-10F7-E681-A988D01F7A0B}"/>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1847809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034FC-5246-F3FD-0C6D-9B11CF979D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A6D081-3FFC-ED2B-B1BF-FC4DB24068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50E0F3-D4E7-2BDB-3CFC-7D7040F4D522}"/>
              </a:ext>
            </a:extLst>
          </p:cNvPr>
          <p:cNvSpPr>
            <a:spLocks noGrp="1"/>
          </p:cNvSpPr>
          <p:nvPr>
            <p:ph type="dt" sz="half" idx="10"/>
          </p:nvPr>
        </p:nvSpPr>
        <p:spPr>
          <a:xfrm>
            <a:off x="838200" y="6356350"/>
            <a:ext cx="2743200" cy="365125"/>
          </a:xfrm>
          <a:prstGeom prst="rect">
            <a:avLst/>
          </a:prstGeom>
        </p:spPr>
        <p:txBody>
          <a:bodyPr/>
          <a:lstStyle/>
          <a:p>
            <a:fld id="{108CA2E9-E491-3E40-8210-47A8C39E6865}" type="datetime1">
              <a:rPr lang="en-US" smtClean="0"/>
              <a:t>12/5/25</a:t>
            </a:fld>
            <a:endParaRPr lang="en-US"/>
          </a:p>
        </p:txBody>
      </p:sp>
      <p:sp>
        <p:nvSpPr>
          <p:cNvPr id="5" name="Footer Placeholder 4">
            <a:extLst>
              <a:ext uri="{FF2B5EF4-FFF2-40B4-BE49-F238E27FC236}">
                <a16:creationId xmlns:a16="http://schemas.microsoft.com/office/drawing/2014/main" id="{7A4DF8E4-3465-99CF-8D0D-5E45FD437BE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42964E47-FA6C-A45D-4A40-0FBDF2569237}"/>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1851143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8520D-0751-C98F-C282-CB352F2A79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49C4F4-BED6-ED6A-84D5-0BDFFCFE85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061AF7-9D2C-6789-86F9-31A7C2E30D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560410-9559-C354-177F-F940AFD36DA1}"/>
              </a:ext>
            </a:extLst>
          </p:cNvPr>
          <p:cNvSpPr>
            <a:spLocks noGrp="1"/>
          </p:cNvSpPr>
          <p:nvPr>
            <p:ph type="dt" sz="half" idx="10"/>
          </p:nvPr>
        </p:nvSpPr>
        <p:spPr>
          <a:xfrm>
            <a:off x="838200" y="6356350"/>
            <a:ext cx="2743200" cy="365125"/>
          </a:xfrm>
          <a:prstGeom prst="rect">
            <a:avLst/>
          </a:prstGeom>
        </p:spPr>
        <p:txBody>
          <a:bodyPr/>
          <a:lstStyle/>
          <a:p>
            <a:fld id="{E4DA2FB0-2DA6-6243-9C78-1CC87680E899}" type="datetime1">
              <a:rPr lang="en-US" smtClean="0"/>
              <a:t>12/5/25</a:t>
            </a:fld>
            <a:endParaRPr lang="en-US"/>
          </a:p>
        </p:txBody>
      </p:sp>
      <p:sp>
        <p:nvSpPr>
          <p:cNvPr id="6" name="Footer Placeholder 5">
            <a:extLst>
              <a:ext uri="{FF2B5EF4-FFF2-40B4-BE49-F238E27FC236}">
                <a16:creationId xmlns:a16="http://schemas.microsoft.com/office/drawing/2014/main" id="{73B90199-2433-079C-B2AE-220BCB7A38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5">
            <a:extLst>
              <a:ext uri="{FF2B5EF4-FFF2-40B4-BE49-F238E27FC236}">
                <a16:creationId xmlns:a16="http://schemas.microsoft.com/office/drawing/2014/main" id="{7637358B-B782-4205-A4F1-CD4937C5BC31}"/>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1311073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BA914-BB9F-6BD4-ABBB-01617B4EF7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BCE078-7ECF-2050-550F-B260A815D6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93449C-12D9-23D6-DE10-AB9DB43173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E51308-157D-F18B-287B-C8AF199510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8F9EC0-C311-7DE9-B65D-DF6626240A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BD47B8-7AD8-3912-5868-273966629A1E}"/>
              </a:ext>
            </a:extLst>
          </p:cNvPr>
          <p:cNvSpPr>
            <a:spLocks noGrp="1"/>
          </p:cNvSpPr>
          <p:nvPr>
            <p:ph type="dt" sz="half" idx="10"/>
          </p:nvPr>
        </p:nvSpPr>
        <p:spPr>
          <a:xfrm>
            <a:off x="838200" y="6356350"/>
            <a:ext cx="2743200" cy="365125"/>
          </a:xfrm>
          <a:prstGeom prst="rect">
            <a:avLst/>
          </a:prstGeom>
        </p:spPr>
        <p:txBody>
          <a:bodyPr/>
          <a:lstStyle/>
          <a:p>
            <a:fld id="{1D18F4A1-1B3F-6446-9894-E79DC6C69EFB}" type="datetime1">
              <a:rPr lang="en-US" smtClean="0"/>
              <a:t>12/5/25</a:t>
            </a:fld>
            <a:endParaRPr lang="en-US"/>
          </a:p>
        </p:txBody>
      </p:sp>
      <p:sp>
        <p:nvSpPr>
          <p:cNvPr id="8" name="Footer Placeholder 7">
            <a:extLst>
              <a:ext uri="{FF2B5EF4-FFF2-40B4-BE49-F238E27FC236}">
                <a16:creationId xmlns:a16="http://schemas.microsoft.com/office/drawing/2014/main" id="{54652DE3-A525-C424-BEB1-6EA2BD5C88D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57F2BAFA-0A1B-C9D4-1597-48BA811D7E46}"/>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3313417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5DFD-D9A2-2196-8C5B-B6820C2AAA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47682A-8B87-CCA0-8654-CADF03309000}"/>
              </a:ext>
            </a:extLst>
          </p:cNvPr>
          <p:cNvSpPr>
            <a:spLocks noGrp="1"/>
          </p:cNvSpPr>
          <p:nvPr>
            <p:ph type="dt" sz="half" idx="10"/>
          </p:nvPr>
        </p:nvSpPr>
        <p:spPr>
          <a:xfrm>
            <a:off x="838200" y="6356350"/>
            <a:ext cx="2743200" cy="365125"/>
          </a:xfrm>
          <a:prstGeom prst="rect">
            <a:avLst/>
          </a:prstGeom>
        </p:spPr>
        <p:txBody>
          <a:bodyPr/>
          <a:lstStyle/>
          <a:p>
            <a:fld id="{5DAAFF4C-8AFE-C345-9A68-1CE615344208}" type="datetime1">
              <a:rPr lang="en-US" smtClean="0"/>
              <a:t>12/5/25</a:t>
            </a:fld>
            <a:endParaRPr lang="en-US"/>
          </a:p>
        </p:txBody>
      </p:sp>
      <p:sp>
        <p:nvSpPr>
          <p:cNvPr id="4" name="Footer Placeholder 3">
            <a:extLst>
              <a:ext uri="{FF2B5EF4-FFF2-40B4-BE49-F238E27FC236}">
                <a16:creationId xmlns:a16="http://schemas.microsoft.com/office/drawing/2014/main" id="{81F23956-B328-5917-55E6-57E0C306C3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A62E48D-792E-4516-69B9-319941F84874}"/>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2433018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5F0041-7D00-86A0-E238-1153872B17C2}"/>
              </a:ext>
            </a:extLst>
          </p:cNvPr>
          <p:cNvSpPr>
            <a:spLocks noGrp="1"/>
          </p:cNvSpPr>
          <p:nvPr>
            <p:ph type="dt" sz="half" idx="10"/>
          </p:nvPr>
        </p:nvSpPr>
        <p:spPr>
          <a:xfrm>
            <a:off x="838200" y="6356350"/>
            <a:ext cx="2743200" cy="365125"/>
          </a:xfrm>
          <a:prstGeom prst="rect">
            <a:avLst/>
          </a:prstGeom>
        </p:spPr>
        <p:txBody>
          <a:bodyPr/>
          <a:lstStyle/>
          <a:p>
            <a:fld id="{2375851B-16CC-C845-9E09-103EA58AE8F5}" type="datetime1">
              <a:rPr lang="en-US" smtClean="0"/>
              <a:t>12/5/25</a:t>
            </a:fld>
            <a:endParaRPr lang="en-US"/>
          </a:p>
        </p:txBody>
      </p:sp>
      <p:sp>
        <p:nvSpPr>
          <p:cNvPr id="3" name="Footer Placeholder 2">
            <a:extLst>
              <a:ext uri="{FF2B5EF4-FFF2-40B4-BE49-F238E27FC236}">
                <a16:creationId xmlns:a16="http://schemas.microsoft.com/office/drawing/2014/main" id="{93B096C3-E50E-F309-77F7-6074B63144D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5">
            <a:extLst>
              <a:ext uri="{FF2B5EF4-FFF2-40B4-BE49-F238E27FC236}">
                <a16:creationId xmlns:a16="http://schemas.microsoft.com/office/drawing/2014/main" id="{230285A7-3AC4-D0F5-AA5B-5184BC2870F7}"/>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903349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228EA-4BC9-2353-01B9-1E61328A74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E1EAB4-6E21-52D7-061D-1D46253C1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75022D-4883-38CB-52F1-23A6AA244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4D46E9-54D4-5D38-2584-75061D3D6B6F}"/>
              </a:ext>
            </a:extLst>
          </p:cNvPr>
          <p:cNvSpPr>
            <a:spLocks noGrp="1"/>
          </p:cNvSpPr>
          <p:nvPr>
            <p:ph type="dt" sz="half" idx="10"/>
          </p:nvPr>
        </p:nvSpPr>
        <p:spPr>
          <a:xfrm>
            <a:off x="838200" y="6356350"/>
            <a:ext cx="2743200" cy="365125"/>
          </a:xfrm>
          <a:prstGeom prst="rect">
            <a:avLst/>
          </a:prstGeom>
        </p:spPr>
        <p:txBody>
          <a:bodyPr/>
          <a:lstStyle/>
          <a:p>
            <a:fld id="{7BD0B98E-D668-FF44-ADBC-7870435CC822}" type="datetime1">
              <a:rPr lang="en-US" smtClean="0"/>
              <a:t>12/5/25</a:t>
            </a:fld>
            <a:endParaRPr lang="en-US"/>
          </a:p>
        </p:txBody>
      </p:sp>
      <p:sp>
        <p:nvSpPr>
          <p:cNvPr id="6" name="Footer Placeholder 5">
            <a:extLst>
              <a:ext uri="{FF2B5EF4-FFF2-40B4-BE49-F238E27FC236}">
                <a16:creationId xmlns:a16="http://schemas.microsoft.com/office/drawing/2014/main" id="{FD940354-7910-3B71-81CD-C4C509A6A5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0F486A7A-2F9E-5B93-42D5-ADA92CAB8E84}"/>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3608615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A76BF-875D-6346-236C-DE90B01E38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3A708C-DAD6-14ED-620E-A2A206D131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CFD802-4F36-FBF4-4B55-C672155274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E9EBD-7BAA-EACC-198C-37CB36A2652A}"/>
              </a:ext>
            </a:extLst>
          </p:cNvPr>
          <p:cNvSpPr>
            <a:spLocks noGrp="1"/>
          </p:cNvSpPr>
          <p:nvPr>
            <p:ph type="dt" sz="half" idx="10"/>
          </p:nvPr>
        </p:nvSpPr>
        <p:spPr>
          <a:xfrm>
            <a:off x="838200" y="6356350"/>
            <a:ext cx="2743200" cy="365125"/>
          </a:xfrm>
          <a:prstGeom prst="rect">
            <a:avLst/>
          </a:prstGeom>
        </p:spPr>
        <p:txBody>
          <a:bodyPr/>
          <a:lstStyle/>
          <a:p>
            <a:fld id="{18CBDA1A-9D80-6B47-BDFC-3AEDD91BC3DE}" type="datetime1">
              <a:rPr lang="en-US" smtClean="0"/>
              <a:t>12/5/25</a:t>
            </a:fld>
            <a:endParaRPr lang="en-US"/>
          </a:p>
        </p:txBody>
      </p:sp>
      <p:sp>
        <p:nvSpPr>
          <p:cNvPr id="6" name="Footer Placeholder 5">
            <a:extLst>
              <a:ext uri="{FF2B5EF4-FFF2-40B4-BE49-F238E27FC236}">
                <a16:creationId xmlns:a16="http://schemas.microsoft.com/office/drawing/2014/main" id="{C685B10D-8EB3-A33E-6EB0-8E9DB4C0831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F42668E1-9279-650B-3BE1-41BE4D46D9EC}"/>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2162267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FCEE7-ECC6-EBD4-893A-F22564B5B0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21DAE0-C4A9-385E-6B02-E3C6ACE81F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B18546-5353-83E6-9ED4-552F7AAE8907}"/>
              </a:ext>
            </a:extLst>
          </p:cNvPr>
          <p:cNvSpPr>
            <a:spLocks noGrp="1"/>
          </p:cNvSpPr>
          <p:nvPr>
            <p:ph type="dt" sz="half" idx="10"/>
          </p:nvPr>
        </p:nvSpPr>
        <p:spPr>
          <a:xfrm>
            <a:off x="838200" y="6356350"/>
            <a:ext cx="2743200" cy="365125"/>
          </a:xfrm>
          <a:prstGeom prst="rect">
            <a:avLst/>
          </a:prstGeom>
        </p:spPr>
        <p:txBody>
          <a:bodyPr/>
          <a:lstStyle/>
          <a:p>
            <a:fld id="{BD8A24F3-6F86-CB4C-A03A-92009DD858B8}" type="datetime1">
              <a:rPr lang="en-US" smtClean="0"/>
              <a:t>12/5/25</a:t>
            </a:fld>
            <a:endParaRPr lang="en-US"/>
          </a:p>
        </p:txBody>
      </p:sp>
      <p:sp>
        <p:nvSpPr>
          <p:cNvPr id="5" name="Footer Placeholder 4">
            <a:extLst>
              <a:ext uri="{FF2B5EF4-FFF2-40B4-BE49-F238E27FC236}">
                <a16:creationId xmlns:a16="http://schemas.microsoft.com/office/drawing/2014/main" id="{34147857-F0D5-0655-BE5B-CEACC7EBC90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5">
            <a:extLst>
              <a:ext uri="{FF2B5EF4-FFF2-40B4-BE49-F238E27FC236}">
                <a16:creationId xmlns:a16="http://schemas.microsoft.com/office/drawing/2014/main" id="{FC04806A-3C52-F8BC-DBE8-897F67F13B5A}"/>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851513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AB900D-4CC6-94E7-F5C4-B6B743FB10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B4CB6D-942D-66B0-2F59-5E95429529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AEDBA0-E098-D255-F825-71DB50414037}"/>
              </a:ext>
            </a:extLst>
          </p:cNvPr>
          <p:cNvSpPr>
            <a:spLocks noGrp="1"/>
          </p:cNvSpPr>
          <p:nvPr>
            <p:ph type="dt" sz="half" idx="10"/>
          </p:nvPr>
        </p:nvSpPr>
        <p:spPr>
          <a:xfrm>
            <a:off x="838200" y="6356350"/>
            <a:ext cx="2743200" cy="365125"/>
          </a:xfrm>
          <a:prstGeom prst="rect">
            <a:avLst/>
          </a:prstGeom>
        </p:spPr>
        <p:txBody>
          <a:bodyPr/>
          <a:lstStyle/>
          <a:p>
            <a:fld id="{8A6DE066-9962-1541-9755-F6E61027FB17}" type="datetime1">
              <a:rPr lang="en-US" smtClean="0"/>
              <a:t>12/5/25</a:t>
            </a:fld>
            <a:endParaRPr lang="en-US"/>
          </a:p>
        </p:txBody>
      </p:sp>
      <p:sp>
        <p:nvSpPr>
          <p:cNvPr id="5" name="Footer Placeholder 4">
            <a:extLst>
              <a:ext uri="{FF2B5EF4-FFF2-40B4-BE49-F238E27FC236}">
                <a16:creationId xmlns:a16="http://schemas.microsoft.com/office/drawing/2014/main" id="{7B823F2E-3B35-8384-9614-3F80F40E908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5">
            <a:extLst>
              <a:ext uri="{FF2B5EF4-FFF2-40B4-BE49-F238E27FC236}">
                <a16:creationId xmlns:a16="http://schemas.microsoft.com/office/drawing/2014/main" id="{EB1226F3-A9C5-0469-967C-8A7AB49E9280}"/>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4135948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4"/>
        <p:cNvGrpSpPr/>
        <p:nvPr/>
      </p:nvGrpSpPr>
      <p:grpSpPr>
        <a:xfrm>
          <a:off x="0" y="0"/>
          <a:ext cx="0" cy="0"/>
          <a:chOff x="0" y="0"/>
          <a:chExt cx="0" cy="0"/>
        </a:xfrm>
      </p:grpSpPr>
      <p:sp>
        <p:nvSpPr>
          <p:cNvPr id="15" name="Google Shape;15;p18"/>
          <p:cNvSpPr txBox="1">
            <a:spLocks noGrp="1"/>
          </p:cNvSpPr>
          <p:nvPr>
            <p:ph type="title"/>
          </p:nvPr>
        </p:nvSpPr>
        <p:spPr>
          <a:xfrm>
            <a:off x="603250" y="539750"/>
            <a:ext cx="10985500" cy="717475"/>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6" name="Google Shape;16;p18"/>
          <p:cNvSpPr txBox="1">
            <a:spLocks noGrp="1"/>
          </p:cNvSpPr>
          <p:nvPr>
            <p:ph type="body" idx="1"/>
          </p:nvPr>
        </p:nvSpPr>
        <p:spPr>
          <a:xfrm>
            <a:off x="603250" y="1186481"/>
            <a:ext cx="10985500" cy="467390"/>
          </a:xfrm>
          <a:prstGeom prst="rect">
            <a:avLst/>
          </a:prstGeom>
          <a:noFill/>
          <a:ln>
            <a:noFill/>
          </a:ln>
        </p:spPr>
        <p:txBody>
          <a:bodyPr spcFirstLastPara="1" wrap="square" lIns="45700" tIns="45700" rIns="45700" bIns="45700" anchor="t" anchorCtr="0">
            <a:normAutofit/>
          </a:bodyPr>
          <a:lstStyle>
            <a:lvl1pPr marL="228600" lvl="0" indent="-114300" algn="l">
              <a:lnSpc>
                <a:spcPct val="100000"/>
              </a:lnSpc>
              <a:spcBef>
                <a:spcPts val="0"/>
              </a:spcBef>
              <a:spcAft>
                <a:spcPts val="0"/>
              </a:spcAft>
              <a:buClr>
                <a:srgbClr val="000000"/>
              </a:buClr>
              <a:buSzPts val="5500"/>
              <a:buFont typeface="Helvetica Neue"/>
              <a:buNone/>
              <a:defRPr sz="2750" b="1"/>
            </a:lvl1pPr>
            <a:lvl2pPr marL="457200" lvl="1" indent="-184595" algn="l">
              <a:lnSpc>
                <a:spcPct val="90000"/>
              </a:lnSpc>
              <a:spcBef>
                <a:spcPts val="2250"/>
              </a:spcBef>
              <a:spcAft>
                <a:spcPts val="0"/>
              </a:spcAft>
              <a:buClr>
                <a:srgbClr val="000000"/>
              </a:buClr>
              <a:buSzPts val="2214"/>
              <a:buChar char="•"/>
              <a:defRPr/>
            </a:lvl2pPr>
            <a:lvl3pPr marL="685800" lvl="2" indent="-184595" algn="l">
              <a:lnSpc>
                <a:spcPct val="90000"/>
              </a:lnSpc>
              <a:spcBef>
                <a:spcPts val="2250"/>
              </a:spcBef>
              <a:spcAft>
                <a:spcPts val="0"/>
              </a:spcAft>
              <a:buClr>
                <a:srgbClr val="000000"/>
              </a:buClr>
              <a:buSzPts val="2214"/>
              <a:buChar char="•"/>
              <a:defRPr/>
            </a:lvl3pPr>
            <a:lvl4pPr marL="914400" lvl="3" indent="-184595" algn="l">
              <a:lnSpc>
                <a:spcPct val="90000"/>
              </a:lnSpc>
              <a:spcBef>
                <a:spcPts val="2250"/>
              </a:spcBef>
              <a:spcAft>
                <a:spcPts val="0"/>
              </a:spcAft>
              <a:buClr>
                <a:srgbClr val="000000"/>
              </a:buClr>
              <a:buSzPts val="2214"/>
              <a:buChar char="•"/>
              <a:defRPr/>
            </a:lvl4pPr>
            <a:lvl5pPr marL="1143000" lvl="4" indent="-184595" algn="l">
              <a:lnSpc>
                <a:spcPct val="90000"/>
              </a:lnSpc>
              <a:spcBef>
                <a:spcPts val="2250"/>
              </a:spcBef>
              <a:spcAft>
                <a:spcPts val="0"/>
              </a:spcAft>
              <a:buClr>
                <a:srgbClr val="000000"/>
              </a:buClr>
              <a:buSzPts val="2214"/>
              <a:buChar char="•"/>
              <a:defRPr/>
            </a:lvl5pPr>
            <a:lvl6pPr marL="1371600" lvl="5" indent="-184595" algn="l">
              <a:lnSpc>
                <a:spcPct val="90000"/>
              </a:lnSpc>
              <a:spcBef>
                <a:spcPts val="2250"/>
              </a:spcBef>
              <a:spcAft>
                <a:spcPts val="0"/>
              </a:spcAft>
              <a:buClr>
                <a:srgbClr val="000000"/>
              </a:buClr>
              <a:buSzPts val="2214"/>
              <a:buChar char="•"/>
              <a:defRPr/>
            </a:lvl6pPr>
            <a:lvl7pPr marL="1600200" lvl="6" indent="-184595" algn="l">
              <a:lnSpc>
                <a:spcPct val="90000"/>
              </a:lnSpc>
              <a:spcBef>
                <a:spcPts val="2250"/>
              </a:spcBef>
              <a:spcAft>
                <a:spcPts val="0"/>
              </a:spcAft>
              <a:buClr>
                <a:srgbClr val="000000"/>
              </a:buClr>
              <a:buSzPts val="2214"/>
              <a:buChar char="•"/>
              <a:defRPr/>
            </a:lvl7pPr>
            <a:lvl8pPr marL="1828800" lvl="7" indent="-184595" algn="l">
              <a:lnSpc>
                <a:spcPct val="90000"/>
              </a:lnSpc>
              <a:spcBef>
                <a:spcPts val="2250"/>
              </a:spcBef>
              <a:spcAft>
                <a:spcPts val="0"/>
              </a:spcAft>
              <a:buClr>
                <a:srgbClr val="000000"/>
              </a:buClr>
              <a:buSzPts val="2214"/>
              <a:buChar char="•"/>
              <a:defRPr/>
            </a:lvl8pPr>
            <a:lvl9pPr marL="2057400" lvl="8" indent="-184595" algn="l">
              <a:lnSpc>
                <a:spcPct val="90000"/>
              </a:lnSpc>
              <a:spcBef>
                <a:spcPts val="2250"/>
              </a:spcBef>
              <a:spcAft>
                <a:spcPts val="0"/>
              </a:spcAft>
              <a:buClr>
                <a:srgbClr val="000000"/>
              </a:buClr>
              <a:buSzPts val="2214"/>
              <a:buChar char="•"/>
              <a:defRPr/>
            </a:lvl9pPr>
          </a:lstStyle>
          <a:p>
            <a:endParaRPr/>
          </a:p>
        </p:txBody>
      </p:sp>
      <p:sp>
        <p:nvSpPr>
          <p:cNvPr id="2" name="Slide Number Placeholder 5">
            <a:extLst>
              <a:ext uri="{FF2B5EF4-FFF2-40B4-BE49-F238E27FC236}">
                <a16:creationId xmlns:a16="http://schemas.microsoft.com/office/drawing/2014/main" id="{409E6F4B-0321-AC6E-E95C-3CA3DB892D72}"/>
              </a:ext>
            </a:extLst>
          </p:cNvPr>
          <p:cNvSpPr>
            <a:spLocks noGrp="1"/>
          </p:cNvSpPr>
          <p:nvPr>
            <p:ph type="sldNum" sz="quarter" idx="12"/>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2530882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963997-48AB-E7E5-DD28-846D0A28EBB9}"/>
              </a:ext>
            </a:extLst>
          </p:cNvPr>
          <p:cNvSpPr>
            <a:spLocks noGrp="1"/>
          </p:cNvSpPr>
          <p:nvPr>
            <p:ph type="title"/>
          </p:nvPr>
        </p:nvSpPr>
        <p:spPr>
          <a:xfrm>
            <a:off x="687198" y="118799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59E556-9F0A-7F98-ACB5-1370E3612C65}"/>
              </a:ext>
            </a:extLst>
          </p:cNvPr>
          <p:cNvSpPr>
            <a:spLocks noGrp="1"/>
          </p:cNvSpPr>
          <p:nvPr>
            <p:ph type="body" idx="1"/>
          </p:nvPr>
        </p:nvSpPr>
        <p:spPr>
          <a:xfrm>
            <a:off x="743474" y="2694872"/>
            <a:ext cx="10403048" cy="30213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27D48F05-2008-3ADB-C933-F0BEE99B7CAA}"/>
              </a:ext>
            </a:extLst>
          </p:cNvPr>
          <p:cNvSpPr/>
          <p:nvPr userDrawn="1"/>
        </p:nvSpPr>
        <p:spPr>
          <a:xfrm>
            <a:off x="-9942" y="-11643"/>
            <a:ext cx="12201941" cy="595118"/>
          </a:xfrm>
          <a:prstGeom prst="rect">
            <a:avLst/>
          </a:prstGeom>
          <a:solidFill>
            <a:srgbClr val="0044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258B60C-95D3-A7F0-43C9-467189E3B5BD}"/>
              </a:ext>
            </a:extLst>
          </p:cNvPr>
          <p:cNvPicPr>
            <a:picLocks noChangeAspect="1"/>
          </p:cNvPicPr>
          <p:nvPr userDrawn="1"/>
        </p:nvPicPr>
        <p:blipFill>
          <a:blip r:embed="rId14"/>
          <a:stretch>
            <a:fillRect/>
          </a:stretch>
        </p:blipFill>
        <p:spPr>
          <a:xfrm>
            <a:off x="11434866" y="38570"/>
            <a:ext cx="609088" cy="494691"/>
          </a:xfrm>
          <a:prstGeom prst="rect">
            <a:avLst/>
          </a:prstGeom>
        </p:spPr>
      </p:pic>
      <p:sp>
        <p:nvSpPr>
          <p:cNvPr id="14" name="object 6">
            <a:extLst>
              <a:ext uri="{FF2B5EF4-FFF2-40B4-BE49-F238E27FC236}">
                <a16:creationId xmlns:a16="http://schemas.microsoft.com/office/drawing/2014/main" id="{7F2A0A8B-8A71-343D-9FCC-F51442BB6469}"/>
              </a:ext>
            </a:extLst>
          </p:cNvPr>
          <p:cNvSpPr/>
          <p:nvPr userDrawn="1"/>
        </p:nvSpPr>
        <p:spPr>
          <a:xfrm>
            <a:off x="-1" y="6549494"/>
            <a:ext cx="12191999" cy="308506"/>
          </a:xfrm>
          <a:custGeom>
            <a:avLst/>
            <a:gdLst>
              <a:gd name="textAreaLeft" fmla="*/ 0 w 4608000"/>
              <a:gd name="textAreaRight" fmla="*/ 4608360 w 4608000"/>
              <a:gd name="textAreaTop" fmla="*/ 0 h 93600"/>
              <a:gd name="textAreaBottom" fmla="*/ 93960 h 93600"/>
            </a:gdLst>
            <a:ahLst/>
            <a:cxnLst/>
            <a:rect l="textAreaLeft" t="textAreaTop" r="textAreaRight" b="textAreaBottom"/>
            <a:pathLst>
              <a:path w="4608195" h="93979">
                <a:moveTo>
                  <a:pt x="4608004" y="0"/>
                </a:moveTo>
                <a:lnTo>
                  <a:pt x="0" y="0"/>
                </a:lnTo>
                <a:lnTo>
                  <a:pt x="0" y="93484"/>
                </a:lnTo>
                <a:lnTo>
                  <a:pt x="4608004" y="93484"/>
                </a:lnTo>
                <a:lnTo>
                  <a:pt x="4608004" y="0"/>
                </a:lnTo>
                <a:close/>
              </a:path>
            </a:pathLst>
          </a:custGeom>
          <a:solidFill>
            <a:srgbClr val="FFD7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US" sz="1800" b="0" u="none" strike="noStrike">
              <a:solidFill>
                <a:srgbClr val="000000"/>
              </a:solidFill>
              <a:uFillTx/>
              <a:latin typeface="Arial"/>
            </a:endParaRPr>
          </a:p>
        </p:txBody>
      </p:sp>
      <p:sp>
        <p:nvSpPr>
          <p:cNvPr id="15" name="TextBox 14">
            <a:extLst>
              <a:ext uri="{FF2B5EF4-FFF2-40B4-BE49-F238E27FC236}">
                <a16:creationId xmlns:a16="http://schemas.microsoft.com/office/drawing/2014/main" id="{D25708D3-ABD3-889E-B973-C9A3AFCF2821}"/>
              </a:ext>
            </a:extLst>
          </p:cNvPr>
          <p:cNvSpPr txBox="1"/>
          <p:nvPr userDrawn="1"/>
        </p:nvSpPr>
        <p:spPr>
          <a:xfrm>
            <a:off x="267551" y="6588331"/>
            <a:ext cx="4909352" cy="230832"/>
          </a:xfrm>
          <a:prstGeom prst="rect">
            <a:avLst/>
          </a:prstGeom>
          <a:noFill/>
        </p:spPr>
        <p:txBody>
          <a:bodyPr wrap="square" rtlCol="0">
            <a:spAutoFit/>
          </a:bodyPr>
          <a:lstStyle/>
          <a:p>
            <a:r>
              <a:rPr lang="en-US" sz="900" dirty="0"/>
              <a:t>ESC 425 – Planetary Seismo-acoustics</a:t>
            </a:r>
          </a:p>
        </p:txBody>
      </p:sp>
      <p:sp>
        <p:nvSpPr>
          <p:cNvPr id="4" name="Slide Number Placeholder 5">
            <a:extLst>
              <a:ext uri="{FF2B5EF4-FFF2-40B4-BE49-F238E27FC236}">
                <a16:creationId xmlns:a16="http://schemas.microsoft.com/office/drawing/2014/main" id="{E39F3C9E-33D1-08A0-6AC8-66A510CA01B8}"/>
              </a:ext>
            </a:extLst>
          </p:cNvPr>
          <p:cNvSpPr>
            <a:spLocks noGrp="1"/>
          </p:cNvSpPr>
          <p:nvPr>
            <p:ph type="sldNum" sz="quarter" idx="4"/>
          </p:nvPr>
        </p:nvSpPr>
        <p:spPr>
          <a:xfrm>
            <a:off x="11704178" y="6593117"/>
            <a:ext cx="379575" cy="256716"/>
          </a:xfrm>
          <a:prstGeom prst="rect">
            <a:avLst/>
          </a:prstGeom>
        </p:spPr>
        <p:txBody>
          <a:bodyPr/>
          <a:lstStyle>
            <a:lvl1pPr>
              <a:defRPr lang="en-US" sz="1000" b="0" smtClean="0"/>
            </a:lvl1pPr>
          </a:lstStyle>
          <a:p>
            <a:fld id="{87E7843D-FF13-4365-9478-9625B70A2705}" type="slidenum">
              <a:rPr lang="en-US" smtClean="0"/>
              <a:pPr/>
              <a:t>‹#›</a:t>
            </a:fld>
            <a:endParaRPr lang="en-US"/>
          </a:p>
        </p:txBody>
      </p:sp>
    </p:spTree>
    <p:extLst>
      <p:ext uri="{BB962C8B-B14F-4D97-AF65-F5344CB8AC3E}">
        <p14:creationId xmlns:p14="http://schemas.microsoft.com/office/powerpoint/2010/main" val="412582505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microsoft.com/office/2007/relationships/media" Target="../media/media2.mp4"/><Relationship Id="rId7" Type="http://schemas.openxmlformats.org/officeDocument/2006/relationships/image" Target="../media/image1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doi.org/10.1785/0220210355" TargetMode="External"/><Relationship Id="rId5" Type="http://schemas.openxmlformats.org/officeDocument/2006/relationships/slideLayout" Target="../slideLayouts/slideLayout8.xml"/><Relationship Id="rId4" Type="http://schemas.openxmlformats.org/officeDocument/2006/relationships/video" Target="../media/media2.mp4"/><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93/gji/ggac236"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s://www.freelogovectors.net/university-of-rochester-logo-02/" TargetMode="Externa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86;p1">
            <a:extLst>
              <a:ext uri="{FF2B5EF4-FFF2-40B4-BE49-F238E27FC236}">
                <a16:creationId xmlns:a16="http://schemas.microsoft.com/office/drawing/2014/main" id="{43612F49-4747-B16E-D88F-D60C362B6CD1}"/>
              </a:ext>
            </a:extLst>
          </p:cNvPr>
          <p:cNvSpPr txBox="1">
            <a:spLocks/>
          </p:cNvSpPr>
          <p:nvPr/>
        </p:nvSpPr>
        <p:spPr>
          <a:xfrm>
            <a:off x="236653" y="1056382"/>
            <a:ext cx="5762115" cy="3079931"/>
          </a:xfrm>
          <a:prstGeom prst="rect">
            <a:avLst/>
          </a:prstGeom>
          <a:noFill/>
          <a:ln>
            <a:noFill/>
          </a:ln>
        </p:spPr>
        <p:txBody>
          <a:bodyPr spcFirstLastPara="1" vert="horz" wrap="square" lIns="25400" tIns="25400" rIns="25400" bIns="25400" rtlCol="0" anchor="b"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uSzPts val="5500"/>
            </a:pPr>
            <a:r>
              <a:rPr lang="en-US" sz="2750" dirty="0">
                <a:latin typeface="Times New Roman" panose="02020603050405020304" pitchFamily="18" charset="0"/>
                <a:ea typeface="Helvetica Neue"/>
                <a:cs typeface="Times New Roman" panose="02020603050405020304" pitchFamily="18" charset="0"/>
                <a:sym typeface="Helvetica Neue"/>
              </a:rPr>
              <a:t>Presentation of</a:t>
            </a:r>
            <a:br>
              <a:rPr lang="en-US" sz="2750" dirty="0">
                <a:latin typeface="Times New Roman" panose="02020603050405020304" pitchFamily="18" charset="0"/>
                <a:ea typeface="Helvetica Neue"/>
                <a:cs typeface="Times New Roman" panose="02020603050405020304" pitchFamily="18" charset="0"/>
                <a:sym typeface="Helvetica Neue"/>
              </a:rPr>
            </a:br>
            <a:br>
              <a:rPr lang="en-US" sz="2750" dirty="0">
                <a:latin typeface="Times New Roman" panose="02020603050405020304" pitchFamily="18" charset="0"/>
                <a:ea typeface="Helvetica Neue"/>
                <a:cs typeface="Times New Roman" panose="02020603050405020304" pitchFamily="18" charset="0"/>
                <a:sym typeface="Helvetica Neue"/>
              </a:rPr>
            </a:br>
            <a:r>
              <a:rPr lang="en-US" sz="2750" b="1" dirty="0">
                <a:latin typeface="Times New Roman" panose="02020603050405020304" pitchFamily="18" charset="0"/>
                <a:ea typeface="Helvetica Neue"/>
                <a:cs typeface="Times New Roman" panose="02020603050405020304" pitchFamily="18" charset="0"/>
                <a:sym typeface="Helvetica Neue"/>
              </a:rPr>
              <a:t>Improving Ambient Noise Correlations with Multi-Taper Method</a:t>
            </a:r>
          </a:p>
          <a:p>
            <a:pPr algn="l">
              <a:buSzPts val="5500"/>
            </a:pPr>
            <a:endParaRPr lang="en-US" sz="2750" i="1" dirty="0">
              <a:latin typeface="Times New Roman" panose="02020603050405020304" pitchFamily="18" charset="0"/>
              <a:ea typeface="Helvetica Neue"/>
              <a:cs typeface="Times New Roman" panose="02020603050405020304" pitchFamily="18" charset="0"/>
              <a:sym typeface="Helvetica Neue"/>
            </a:endParaRPr>
          </a:p>
          <a:p>
            <a:pPr algn="l">
              <a:buSzPts val="5500"/>
            </a:pPr>
            <a:endParaRPr lang="en-US" sz="1600" i="1" dirty="0">
              <a:latin typeface="Times New Roman" panose="02020603050405020304" pitchFamily="18" charset="0"/>
              <a:cs typeface="Times New Roman" panose="02020603050405020304" pitchFamily="18" charset="0"/>
            </a:endParaRPr>
          </a:p>
        </p:txBody>
      </p:sp>
      <p:sp>
        <p:nvSpPr>
          <p:cNvPr id="14" name="Google Shape;87;p1">
            <a:extLst>
              <a:ext uri="{FF2B5EF4-FFF2-40B4-BE49-F238E27FC236}">
                <a16:creationId xmlns:a16="http://schemas.microsoft.com/office/drawing/2014/main" id="{459934EC-487A-CBC9-3C0D-D68458E5A309}"/>
              </a:ext>
            </a:extLst>
          </p:cNvPr>
          <p:cNvSpPr txBox="1">
            <a:spLocks/>
          </p:cNvSpPr>
          <p:nvPr/>
        </p:nvSpPr>
        <p:spPr>
          <a:xfrm>
            <a:off x="246278" y="3752609"/>
            <a:ext cx="5072766" cy="1889655"/>
          </a:xfrm>
          <a:prstGeom prst="rect">
            <a:avLst/>
          </a:prstGeom>
          <a:noFill/>
          <a:ln>
            <a:noFill/>
          </a:ln>
        </p:spPr>
        <p:txBody>
          <a:bodyPr spcFirstLastPara="1" vert="horz" wrap="square" lIns="25400" tIns="25400" rIns="25400" bIns="2540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SzPts val="3000"/>
            </a:pPr>
            <a:r>
              <a:rPr lang="en-US" sz="1500" dirty="0">
                <a:latin typeface="Helvetica Neue"/>
                <a:ea typeface="Helvetica Neue"/>
                <a:cs typeface="Helvetica Neue"/>
                <a:sym typeface="Helvetica Neue"/>
              </a:rPr>
              <a:t>Sayan Kr Swar</a:t>
            </a:r>
            <a:r>
              <a:rPr lang="en-US" sz="1500" baseline="30000" dirty="0">
                <a:latin typeface="Helvetica Neue"/>
                <a:ea typeface="Helvetica Neue"/>
                <a:cs typeface="Helvetica Neue"/>
                <a:sym typeface="Helvetica Neue"/>
              </a:rPr>
              <a:t>1</a:t>
            </a:r>
            <a:r>
              <a:rPr lang="en-US" sz="1500" dirty="0">
                <a:latin typeface="Helvetica Neue"/>
                <a:ea typeface="Helvetica Neue"/>
                <a:cs typeface="Helvetica Neue"/>
                <a:sym typeface="Helvetica Neue"/>
              </a:rPr>
              <a:t>,</a:t>
            </a:r>
          </a:p>
          <a:p>
            <a:pPr algn="l">
              <a:buSzPts val="3000"/>
            </a:pPr>
            <a:r>
              <a:rPr lang="en-US" sz="1500" dirty="0">
                <a:latin typeface="Helvetica Neue"/>
                <a:ea typeface="Helvetica Neue"/>
                <a:cs typeface="Helvetica Neue"/>
                <a:sym typeface="Helvetica Neue"/>
              </a:rPr>
              <a:t>Advisor: Tolulope Olugboji</a:t>
            </a:r>
            <a:r>
              <a:rPr lang="en-US" sz="1500" baseline="30000" dirty="0">
                <a:latin typeface="Helvetica Neue"/>
                <a:ea typeface="Helvetica Neue"/>
                <a:cs typeface="Helvetica Neue"/>
                <a:sym typeface="Helvetica Neue"/>
              </a:rPr>
              <a:t>1,2</a:t>
            </a:r>
          </a:p>
          <a:p>
            <a:pPr algn="l">
              <a:buSzPts val="3000"/>
            </a:pPr>
            <a:r>
              <a:rPr lang="en-US" sz="1500" dirty="0">
                <a:latin typeface="Times New Roman" panose="02020603050405020304" pitchFamily="18" charset="0"/>
                <a:ea typeface="Helvetica Neue"/>
                <a:cs typeface="Times New Roman" panose="02020603050405020304" pitchFamily="18" charset="0"/>
                <a:sym typeface="Helvetica Neue"/>
              </a:rPr>
              <a:t>Planetary Sesimoacoustics, ESC 425</a:t>
            </a:r>
            <a:endParaRPr lang="en-US" sz="1500" dirty="0">
              <a:latin typeface="Times New Roman" panose="02020603050405020304" pitchFamily="18" charset="0"/>
              <a:ea typeface="Helvetica Neue Light"/>
              <a:cs typeface="Times New Roman" panose="02020603050405020304" pitchFamily="18" charset="0"/>
              <a:sym typeface="Helvetica Neue Light"/>
            </a:endParaRPr>
          </a:p>
          <a:p>
            <a:pPr algn="l">
              <a:buSzPts val="3000"/>
            </a:pPr>
            <a:r>
              <a:rPr lang="en-US" sz="1500" dirty="0">
                <a:latin typeface="Times New Roman" panose="02020603050405020304" pitchFamily="18" charset="0"/>
                <a:cs typeface="Times New Roman" panose="02020603050405020304" pitchFamily="18" charset="0"/>
              </a:rPr>
              <a:t>1 Electrical and Computer Engineering Department, UofR</a:t>
            </a:r>
          </a:p>
          <a:p>
            <a:pPr algn="l">
              <a:buSzPts val="3000"/>
            </a:pPr>
            <a:r>
              <a:rPr lang="en-US" sz="1500" dirty="0">
                <a:latin typeface="Times New Roman" panose="02020603050405020304" pitchFamily="18" charset="0"/>
                <a:cs typeface="Times New Roman" panose="02020603050405020304" pitchFamily="18" charset="0"/>
              </a:rPr>
              <a:t>2 Earth and Environmental Science Department, UofR</a:t>
            </a:r>
          </a:p>
          <a:p>
            <a:pPr algn="l">
              <a:buSzPts val="3000"/>
            </a:pPr>
            <a:endParaRPr lang="en-US" sz="1500" dirty="0">
              <a:latin typeface="Times New Roman" panose="02020603050405020304" pitchFamily="18" charset="0"/>
              <a:cs typeface="Times New Roman" panose="02020603050405020304" pitchFamily="18" charset="0"/>
            </a:endParaRPr>
          </a:p>
          <a:p>
            <a:pPr algn="l">
              <a:buSzPts val="3000"/>
            </a:pPr>
            <a:endParaRPr lang="en-US" sz="1500" dirty="0">
              <a:latin typeface="Times New Roman" panose="02020603050405020304" pitchFamily="18" charset="0"/>
              <a:cs typeface="Times New Roman" panose="02020603050405020304" pitchFamily="18" charset="0"/>
            </a:endParaRPr>
          </a:p>
        </p:txBody>
      </p:sp>
      <p:sp>
        <p:nvSpPr>
          <p:cNvPr id="19" name="Slide Number Placeholder 18">
            <a:extLst>
              <a:ext uri="{FF2B5EF4-FFF2-40B4-BE49-F238E27FC236}">
                <a16:creationId xmlns:a16="http://schemas.microsoft.com/office/drawing/2014/main" id="{7AF65B97-33B5-4DF6-B506-FE453BDD7314}"/>
              </a:ext>
            </a:extLst>
          </p:cNvPr>
          <p:cNvSpPr>
            <a:spLocks noGrp="1"/>
          </p:cNvSpPr>
          <p:nvPr>
            <p:ph type="sldNum" sz="quarter" idx="12"/>
          </p:nvPr>
        </p:nvSpPr>
        <p:spPr/>
        <p:txBody>
          <a:bodyPr/>
          <a:lstStyle/>
          <a:p>
            <a:fld id="{87E7843D-FF13-4365-9478-9625B70A2705}" type="slidenum">
              <a:rPr lang="en-US" smtClean="0"/>
              <a:t>1</a:t>
            </a:fld>
            <a:endParaRPr lang="en-US"/>
          </a:p>
        </p:txBody>
      </p:sp>
      <p:sp>
        <p:nvSpPr>
          <p:cNvPr id="3" name="Google Shape;116;g31b672d8a92_0_58">
            <a:extLst>
              <a:ext uri="{FF2B5EF4-FFF2-40B4-BE49-F238E27FC236}">
                <a16:creationId xmlns:a16="http://schemas.microsoft.com/office/drawing/2014/main" id="{7B453E67-1A29-2CAE-FEEA-B045B9B19742}"/>
              </a:ext>
            </a:extLst>
          </p:cNvPr>
          <p:cNvSpPr txBox="1"/>
          <p:nvPr/>
        </p:nvSpPr>
        <p:spPr>
          <a:xfrm>
            <a:off x="6321633" y="6228538"/>
            <a:ext cx="4199905" cy="318036"/>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FFFFFF"/>
              </a:buClr>
              <a:buSzPts val="2400"/>
              <a:buFont typeface="Helvetica Neue"/>
              <a:buNone/>
            </a:pPr>
            <a:r>
              <a:rPr lang="en-US" sz="1400" b="1" dirty="0">
                <a:solidFill>
                  <a:srgbClr val="FFFFFF"/>
                </a:solidFill>
                <a:latin typeface="Times New Roman" panose="02020603050405020304" pitchFamily="18" charset="0"/>
                <a:ea typeface="Helvetica Neue"/>
                <a:cs typeface="Times New Roman" panose="02020603050405020304" pitchFamily="18" charset="0"/>
                <a:sym typeface="Helvetica Neue"/>
              </a:rPr>
              <a:t>FOB eruption, 13 </a:t>
            </a:r>
            <a:r>
              <a:rPr lang="en-US" sz="1400" b="1" i="0" u="none" strike="noStrike" cap="none" dirty="0">
                <a:solidFill>
                  <a:srgbClr val="FFFFFF"/>
                </a:solidFill>
                <a:latin typeface="Times New Roman" panose="02020603050405020304" pitchFamily="18" charset="0"/>
                <a:ea typeface="Helvetica Neue"/>
                <a:cs typeface="Times New Roman" panose="02020603050405020304" pitchFamily="18" charset="0"/>
                <a:sym typeface="Helvetica Neue"/>
              </a:rPr>
              <a:t>Aug</a:t>
            </a:r>
            <a:r>
              <a:rPr lang="en-US" sz="1400" b="1" dirty="0">
                <a:solidFill>
                  <a:srgbClr val="FFFFFF"/>
                </a:solidFill>
                <a:latin typeface="Times New Roman" panose="02020603050405020304" pitchFamily="18" charset="0"/>
                <a:ea typeface="Helvetica Neue"/>
                <a:cs typeface="Times New Roman" panose="02020603050405020304" pitchFamily="18" charset="0"/>
                <a:sym typeface="Helvetica Neue"/>
              </a:rPr>
              <a:t>. 2021</a:t>
            </a:r>
            <a:r>
              <a:rPr lang="en-US" sz="1400" b="1" i="0" u="none" strike="noStrike" cap="none" dirty="0">
                <a:solidFill>
                  <a:srgbClr val="FFFFFF"/>
                </a:solidFill>
                <a:latin typeface="Times New Roman" panose="02020603050405020304" pitchFamily="18" charset="0"/>
                <a:ea typeface="Helvetica Neue"/>
                <a:cs typeface="Times New Roman" panose="02020603050405020304" pitchFamily="18" charset="0"/>
                <a:sym typeface="Helvetica Neue"/>
              </a:rPr>
              <a:t> by Japan Coast Guard</a:t>
            </a:r>
            <a:endParaRPr sz="1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D03C270-1337-0563-F2AE-CC4167E6ED50}"/>
              </a:ext>
            </a:extLst>
          </p:cNvPr>
          <p:cNvSpPr txBox="1"/>
          <p:nvPr/>
        </p:nvSpPr>
        <p:spPr>
          <a:xfrm>
            <a:off x="3034145" y="3239138"/>
            <a:ext cx="6109854" cy="369332"/>
          </a:xfrm>
          <a:prstGeom prst="rect">
            <a:avLst/>
          </a:prstGeom>
          <a:noFill/>
        </p:spPr>
        <p:txBody>
          <a:bodyPr wrap="square">
            <a:spAutoFit/>
          </a:bodyPr>
          <a:lstStyle/>
          <a:p>
            <a:endParaRPr lang="en-US" dirty="0"/>
          </a:p>
        </p:txBody>
      </p:sp>
      <p:pic>
        <p:nvPicPr>
          <p:cNvPr id="7" name="Content Placeholder 4">
            <a:extLst>
              <a:ext uri="{FF2B5EF4-FFF2-40B4-BE49-F238E27FC236}">
                <a16:creationId xmlns:a16="http://schemas.microsoft.com/office/drawing/2014/main" id="{8E5669BC-75A3-8A50-B46B-B50B24080820}"/>
              </a:ext>
            </a:extLst>
          </p:cNvPr>
          <p:cNvPicPr>
            <a:picLocks noChangeAspect="1"/>
          </p:cNvPicPr>
          <p:nvPr/>
        </p:nvPicPr>
        <p:blipFill rotWithShape="1">
          <a:blip r:embed="rId2">
            <a:extLst>
              <a:ext uri="{28A0092B-C50C-407E-A947-70E740481C1C}">
                <a14:useLocalDpi xmlns:a14="http://schemas.microsoft.com/office/drawing/2010/main" val="0"/>
              </a:ext>
            </a:extLst>
          </a:blip>
          <a:srcRect t="-8" r="33997"/>
          <a:stretch/>
        </p:blipFill>
        <p:spPr>
          <a:xfrm>
            <a:off x="6320725" y="592283"/>
            <a:ext cx="5781061" cy="5424124"/>
          </a:xfrm>
          <a:prstGeom prst="rect">
            <a:avLst/>
          </a:prstGeom>
        </p:spPr>
      </p:pic>
      <p:sp>
        <p:nvSpPr>
          <p:cNvPr id="9" name="TextBox 8">
            <a:extLst>
              <a:ext uri="{FF2B5EF4-FFF2-40B4-BE49-F238E27FC236}">
                <a16:creationId xmlns:a16="http://schemas.microsoft.com/office/drawing/2014/main" id="{39B0C2BA-EAA7-7885-67FA-D24368B93440}"/>
              </a:ext>
            </a:extLst>
          </p:cNvPr>
          <p:cNvSpPr txBox="1"/>
          <p:nvPr/>
        </p:nvSpPr>
        <p:spPr>
          <a:xfrm>
            <a:off x="6573289" y="6120096"/>
            <a:ext cx="5528497" cy="369332"/>
          </a:xfrm>
          <a:prstGeom prst="rect">
            <a:avLst/>
          </a:prstGeom>
          <a:noFill/>
        </p:spPr>
        <p:txBody>
          <a:bodyPr wrap="square" rtlCol="0">
            <a:spAutoFit/>
          </a:bodyPr>
          <a:lstStyle/>
          <a:p>
            <a:r>
              <a:rPr lang="en-US" sz="900" b="0" i="0" dirty="0">
                <a:solidFill>
                  <a:schemeClr val="accent1">
                    <a:lumMod val="50000"/>
                  </a:schemeClr>
                </a:solidFill>
                <a:effectLst/>
                <a:latin typeface="Lato" panose="020F0502020204030203" pitchFamily="34" charset="0"/>
              </a:rPr>
              <a:t>Figure taken from Tolulope Olugboji</a:t>
            </a:r>
            <a:r>
              <a:rPr lang="en-US" sz="900" b="0" i="0" u="none" strike="noStrike" dirty="0">
                <a:solidFill>
                  <a:schemeClr val="accent1">
                    <a:lumMod val="50000"/>
                  </a:schemeClr>
                </a:solidFill>
                <a:effectLst/>
                <a:latin typeface="Lato" panose="020F0502020204030203" pitchFamily="34" charset="0"/>
              </a:rPr>
              <a:t>, </a:t>
            </a:r>
            <a:r>
              <a:rPr lang="en-US" sz="900" b="0" i="0" dirty="0" err="1">
                <a:solidFill>
                  <a:schemeClr val="accent1">
                    <a:lumMod val="50000"/>
                  </a:schemeClr>
                </a:solidFill>
                <a:effectLst/>
                <a:latin typeface="Lato" panose="020F0502020204030203" pitchFamily="34" charset="0"/>
              </a:rPr>
              <a:t>Siyu</a:t>
            </a:r>
            <a:r>
              <a:rPr lang="en-US" sz="900" b="0" i="0" dirty="0">
                <a:solidFill>
                  <a:schemeClr val="accent1">
                    <a:lumMod val="50000"/>
                  </a:schemeClr>
                </a:solidFill>
                <a:effectLst/>
                <a:latin typeface="Lato" panose="020F0502020204030203" pitchFamily="34" charset="0"/>
              </a:rPr>
              <a:t> </a:t>
            </a:r>
            <a:r>
              <a:rPr lang="en-US" sz="900" b="0" i="0" dirty="0" err="1">
                <a:solidFill>
                  <a:schemeClr val="accent1">
                    <a:lumMod val="50000"/>
                  </a:schemeClr>
                </a:solidFill>
                <a:effectLst/>
                <a:latin typeface="Lato" panose="020F0502020204030203" pitchFamily="34" charset="0"/>
              </a:rPr>
              <a:t>Xue</a:t>
            </a:r>
            <a:r>
              <a:rPr lang="en-US" sz="900" b="0" i="0" dirty="0">
                <a:solidFill>
                  <a:schemeClr val="accent1">
                    <a:lumMod val="50000"/>
                  </a:schemeClr>
                </a:solidFill>
                <a:effectLst/>
                <a:latin typeface="Lato" panose="020F0502020204030203" pitchFamily="34" charset="0"/>
              </a:rPr>
              <a:t>; A Short‐Period Surface‐Wave Dispersion Dataset for Model Assessment of Africa’s Crust: ADAMA. </a:t>
            </a:r>
            <a:r>
              <a:rPr lang="en-US" sz="900" b="0" i="1" dirty="0">
                <a:solidFill>
                  <a:schemeClr val="accent1">
                    <a:lumMod val="50000"/>
                  </a:schemeClr>
                </a:solidFill>
                <a:effectLst/>
                <a:latin typeface="Lato" panose="020F0502020204030203" pitchFamily="34" charset="0"/>
              </a:rPr>
              <a:t>Seismological Research Letters</a:t>
            </a:r>
            <a:r>
              <a:rPr lang="en-US" sz="900" b="0" i="0" dirty="0">
                <a:solidFill>
                  <a:schemeClr val="accent1">
                    <a:lumMod val="50000"/>
                  </a:schemeClr>
                </a:solidFill>
                <a:effectLst/>
                <a:latin typeface="Lato" panose="020F0502020204030203" pitchFamily="34" charset="0"/>
              </a:rPr>
              <a:t> 2022;; 93 (3): 1943–1959</a:t>
            </a:r>
            <a:r>
              <a:rPr lang="en-US" sz="900" b="0" i="0" u="none" strike="noStrike" dirty="0">
                <a:solidFill>
                  <a:schemeClr val="accent1">
                    <a:lumMod val="50000"/>
                  </a:schemeClr>
                </a:solidFill>
                <a:effectLst/>
                <a:latin typeface="Lato" panose="020F0502020204030203" pitchFamily="34" charset="0"/>
              </a:rPr>
              <a:t>;</a:t>
            </a:r>
            <a:endParaRPr lang="en-US" sz="900" dirty="0">
              <a:solidFill>
                <a:schemeClr val="accent1">
                  <a:lumMod val="50000"/>
                </a:schemeClr>
              </a:solidFill>
            </a:endParaRPr>
          </a:p>
        </p:txBody>
      </p:sp>
    </p:spTree>
    <p:extLst>
      <p:ext uri="{BB962C8B-B14F-4D97-AF65-F5344CB8AC3E}">
        <p14:creationId xmlns:p14="http://schemas.microsoft.com/office/powerpoint/2010/main" val="1247814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B5CA9D9-2087-3D0B-B8A6-B72D697C1218}"/>
              </a:ext>
            </a:extLst>
          </p:cNvPr>
          <p:cNvSpPr>
            <a:spLocks noGrp="1"/>
          </p:cNvSpPr>
          <p:nvPr>
            <p:ph type="title"/>
          </p:nvPr>
        </p:nvSpPr>
        <p:spPr>
          <a:xfrm>
            <a:off x="125684" y="78377"/>
            <a:ext cx="3227115" cy="419190"/>
          </a:xfrm>
        </p:spPr>
        <p:txBody>
          <a:bodyPr vert="horz" lIns="91440" tIns="45720" rIns="91440" bIns="45720" rtlCol="0" anchor="b">
            <a:normAutofit fontScale="90000"/>
          </a:bodyPr>
          <a:lstStyle/>
          <a:p>
            <a:r>
              <a:rPr lang="en-US" sz="2400" b="1" kern="1200">
                <a:solidFill>
                  <a:schemeClr val="bg1"/>
                </a:solidFill>
                <a:latin typeface="Times New Roman" panose="02020603050405020304" pitchFamily="18" charset="0"/>
                <a:cs typeface="Times New Roman" panose="02020603050405020304" pitchFamily="18" charset="0"/>
              </a:rPr>
              <a:t>What are we covering?</a:t>
            </a:r>
            <a:endParaRPr lang="en-US" sz="2400" b="1" kern="1200" dirty="0">
              <a:solidFill>
                <a:schemeClr val="bg1"/>
              </a:solidFill>
              <a:latin typeface="Times New Roman" panose="02020603050405020304" pitchFamily="18" charset="0"/>
              <a:cs typeface="Times New Roman" panose="02020603050405020304" pitchFamily="18" charset="0"/>
            </a:endParaRPr>
          </a:p>
        </p:txBody>
      </p:sp>
      <p:graphicFrame>
        <p:nvGraphicFramePr>
          <p:cNvPr id="7" name="TextBox 4">
            <a:extLst>
              <a:ext uri="{FF2B5EF4-FFF2-40B4-BE49-F238E27FC236}">
                <a16:creationId xmlns:a16="http://schemas.microsoft.com/office/drawing/2014/main" id="{98F28E47-12BE-D667-3802-4F8908520B0F}"/>
              </a:ext>
            </a:extLst>
          </p:cNvPr>
          <p:cNvGraphicFramePr/>
          <p:nvPr>
            <p:extLst>
              <p:ext uri="{D42A27DB-BD31-4B8C-83A1-F6EECF244321}">
                <p14:modId xmlns:p14="http://schemas.microsoft.com/office/powerpoint/2010/main" val="1788420333"/>
              </p:ext>
            </p:extLst>
          </p:nvPr>
        </p:nvGraphicFramePr>
        <p:xfrm>
          <a:off x="668403" y="1113944"/>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Building Agendas to Get the Output You Need from Your Meeting">
            <a:extLst>
              <a:ext uri="{FF2B5EF4-FFF2-40B4-BE49-F238E27FC236}">
                <a16:creationId xmlns:a16="http://schemas.microsoft.com/office/drawing/2014/main" id="{50479745-EE7C-2D32-CCED-85EBDA16810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892"/>
          <a:stretch/>
        </p:blipFill>
        <p:spPr bwMode="auto">
          <a:xfrm>
            <a:off x="8067231" y="1702832"/>
            <a:ext cx="3033757" cy="369584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B0F6BA7-DE4A-5A51-8F5E-5A797D899BBE}"/>
              </a:ext>
            </a:extLst>
          </p:cNvPr>
          <p:cNvSpPr>
            <a:spLocks noGrp="1"/>
          </p:cNvSpPr>
          <p:nvPr>
            <p:ph type="sldNum" sz="quarter" idx="12"/>
          </p:nvPr>
        </p:nvSpPr>
        <p:spPr>
          <a:xfrm>
            <a:off x="11773257" y="6586878"/>
            <a:ext cx="344680" cy="269193"/>
          </a:xfrm>
          <a:prstGeom prst="rect">
            <a:avLst/>
          </a:prstGeom>
        </p:spPr>
        <p:txBody>
          <a:bodyPr/>
          <a:lstStyle/>
          <a:p>
            <a:fld id="{87E7843D-FF13-4365-9478-9625B70A2705}" type="slidenum">
              <a:rPr lang="en-US" smtClean="0"/>
              <a:pPr/>
              <a:t>2</a:t>
            </a:fld>
            <a:endParaRPr lang="en-US"/>
          </a:p>
        </p:txBody>
      </p:sp>
    </p:spTree>
    <p:extLst>
      <p:ext uri="{BB962C8B-B14F-4D97-AF65-F5344CB8AC3E}">
        <p14:creationId xmlns:p14="http://schemas.microsoft.com/office/powerpoint/2010/main" val="2343531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Cross Correlations Theory</a:t>
            </a:r>
          </a:p>
        </p:txBody>
      </p:sp>
      <p:sp>
        <p:nvSpPr>
          <p:cNvPr id="17" name="Slide Number Placeholder 16">
            <a:extLst>
              <a:ext uri="{FF2B5EF4-FFF2-40B4-BE49-F238E27FC236}">
                <a16:creationId xmlns:a16="http://schemas.microsoft.com/office/drawing/2014/main" id="{23F778CA-1DF7-3818-8E1D-7FDBE2081201}"/>
              </a:ext>
            </a:extLst>
          </p:cNvPr>
          <p:cNvSpPr>
            <a:spLocks noGrp="1"/>
          </p:cNvSpPr>
          <p:nvPr>
            <p:ph type="sldNum" sz="quarter" idx="12"/>
          </p:nvPr>
        </p:nvSpPr>
        <p:spPr>
          <a:xfrm>
            <a:off x="11773257" y="6586878"/>
            <a:ext cx="344680" cy="269193"/>
          </a:xfrm>
          <a:prstGeom prst="rect">
            <a:avLst/>
          </a:prstGeom>
        </p:spPr>
        <p:txBody>
          <a:bodyPr/>
          <a:lstStyle/>
          <a:p>
            <a:fld id="{87E7843D-FF13-4365-9478-9625B70A2705}" type="slidenum">
              <a:rPr lang="en-US" smtClean="0"/>
              <a:pPr/>
              <a:t>3</a:t>
            </a:fld>
            <a:endParaRPr lang="en-US"/>
          </a:p>
        </p:txBody>
      </p:sp>
      <p:sp>
        <p:nvSpPr>
          <p:cNvPr id="2" name="TextBox 1">
            <a:extLst>
              <a:ext uri="{FF2B5EF4-FFF2-40B4-BE49-F238E27FC236}">
                <a16:creationId xmlns:a16="http://schemas.microsoft.com/office/drawing/2014/main" id="{0A42E3BA-D010-7053-6947-42C719E3C61B}"/>
              </a:ext>
            </a:extLst>
          </p:cNvPr>
          <p:cNvSpPr txBox="1"/>
          <p:nvPr/>
        </p:nvSpPr>
        <p:spPr>
          <a:xfrm>
            <a:off x="6380018" y="290945"/>
            <a:ext cx="184731" cy="369332"/>
          </a:xfrm>
          <a:prstGeom prst="rect">
            <a:avLst/>
          </a:prstGeom>
          <a:noFill/>
        </p:spPr>
        <p:txBody>
          <a:bodyPr wrap="none" rtlCol="0">
            <a:spAutoFit/>
          </a:bodyPr>
          <a:lstStyle/>
          <a:p>
            <a:endParaRPr lang="en-US" dirty="0"/>
          </a:p>
        </p:txBody>
      </p:sp>
      <p:pic>
        <p:nvPicPr>
          <p:cNvPr id="3" name="Picture 2">
            <a:extLst>
              <a:ext uri="{FF2B5EF4-FFF2-40B4-BE49-F238E27FC236}">
                <a16:creationId xmlns:a16="http://schemas.microsoft.com/office/drawing/2014/main" id="{E5367304-B3F3-623E-0FE3-95057787C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4459" y="813708"/>
            <a:ext cx="3965561" cy="5120640"/>
          </a:xfrm>
          <a:prstGeom prst="rect">
            <a:avLst/>
          </a:prstGeom>
        </p:spPr>
      </p:pic>
      <p:sp>
        <p:nvSpPr>
          <p:cNvPr id="5" name="Content Placeholder 2">
            <a:extLst>
              <a:ext uri="{FF2B5EF4-FFF2-40B4-BE49-F238E27FC236}">
                <a16:creationId xmlns:a16="http://schemas.microsoft.com/office/drawing/2014/main" id="{3CC6CA80-5F97-1681-3968-946817BFACC3}"/>
              </a:ext>
            </a:extLst>
          </p:cNvPr>
          <p:cNvSpPr>
            <a:spLocks noGrp="1"/>
          </p:cNvSpPr>
          <p:nvPr>
            <p:ph idx="1"/>
          </p:nvPr>
        </p:nvSpPr>
        <p:spPr>
          <a:xfrm>
            <a:off x="433711" y="848406"/>
            <a:ext cx="6687387" cy="2091690"/>
          </a:xfrm>
        </p:spPr>
        <p:txBody>
          <a:bodyPr>
            <a:normAutofit/>
          </a:bodyPr>
          <a:lstStyle/>
          <a:p>
            <a:r>
              <a:rPr lang="en-US" sz="1800" dirty="0">
                <a:solidFill>
                  <a:schemeClr val="accent1">
                    <a:lumMod val="50000"/>
                  </a:schemeClr>
                </a:solidFill>
              </a:rPr>
              <a:t>Cross-correlation (CC) quantifies the similarity between two signals</a:t>
            </a:r>
          </a:p>
          <a:p>
            <a:r>
              <a:rPr lang="en-US" sz="1800" dirty="0">
                <a:solidFill>
                  <a:schemeClr val="accent1">
                    <a:lumMod val="50000"/>
                  </a:schemeClr>
                </a:solidFill>
              </a:rPr>
              <a:t>When two real valued x(n) an y(n), CC can be signals represented by convolution:</a:t>
            </a:r>
          </a:p>
        </p:txBody>
      </p:sp>
      <p:pic>
        <p:nvPicPr>
          <p:cNvPr id="7" name="Picture 2">
            <a:extLst>
              <a:ext uri="{FF2B5EF4-FFF2-40B4-BE49-F238E27FC236}">
                <a16:creationId xmlns:a16="http://schemas.microsoft.com/office/drawing/2014/main" id="{A51E8349-0AE3-11A8-18D2-D8C61FB83C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145" y="1944943"/>
            <a:ext cx="2609850" cy="76460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4E6A739-7B07-CE2C-C6F3-583064068345}"/>
              </a:ext>
            </a:extLst>
          </p:cNvPr>
          <p:cNvSpPr txBox="1"/>
          <p:nvPr/>
        </p:nvSpPr>
        <p:spPr>
          <a:xfrm>
            <a:off x="7075" y="6200384"/>
            <a:ext cx="11582945" cy="461665"/>
          </a:xfrm>
          <a:prstGeom prst="rect">
            <a:avLst/>
          </a:prstGeom>
          <a:noFill/>
        </p:spPr>
        <p:txBody>
          <a:bodyPr wrap="square" rtlCol="0">
            <a:spAutoFit/>
          </a:bodyPr>
          <a:lstStyle/>
          <a:p>
            <a:r>
              <a:rPr lang="en-US" sz="800" dirty="0">
                <a:solidFill>
                  <a:schemeClr val="accent1">
                    <a:lumMod val="50000"/>
                  </a:schemeClr>
                </a:solidFill>
              </a:rPr>
              <a:t>Images taken Herzog, Hendrik &amp; Klein, Adrian &amp; </a:t>
            </a:r>
            <a:r>
              <a:rPr lang="en-US" sz="800" dirty="0" err="1">
                <a:solidFill>
                  <a:schemeClr val="accent1">
                    <a:lumMod val="50000"/>
                  </a:schemeClr>
                </a:solidFill>
              </a:rPr>
              <a:t>Tätzner</a:t>
            </a:r>
            <a:r>
              <a:rPr lang="en-US" sz="800" dirty="0">
                <a:solidFill>
                  <a:schemeClr val="accent1">
                    <a:lumMod val="50000"/>
                  </a:schemeClr>
                </a:solidFill>
              </a:rPr>
              <a:t>, Simon &amp; Schulze, Elisabeth &amp; </a:t>
            </a:r>
            <a:r>
              <a:rPr lang="en-US" sz="800" dirty="0" err="1">
                <a:solidFill>
                  <a:schemeClr val="accent1">
                    <a:lumMod val="50000"/>
                  </a:schemeClr>
                </a:solidFill>
              </a:rPr>
              <a:t>Bleckmann</a:t>
            </a:r>
            <a:r>
              <a:rPr lang="en-US" sz="800" dirty="0">
                <a:solidFill>
                  <a:schemeClr val="accent1">
                    <a:lumMod val="50000"/>
                  </a:schemeClr>
                </a:solidFill>
              </a:rPr>
              <a:t>, Horst. (2015). Micro-Machined Flow Sensors Mimicking Lateral Line Canal Neuromasts. Micromachines. 6. 1189. 10.3390/mi6081189;</a:t>
            </a:r>
          </a:p>
          <a:p>
            <a:r>
              <a:rPr lang="en-US" sz="800" dirty="0" err="1">
                <a:solidFill>
                  <a:schemeClr val="accent1">
                    <a:lumMod val="50000"/>
                  </a:schemeClr>
                </a:solidFill>
              </a:rPr>
              <a:t>Alongi</a:t>
            </a:r>
            <a:r>
              <a:rPr lang="en-US" sz="800" dirty="0">
                <a:solidFill>
                  <a:schemeClr val="accent1">
                    <a:lumMod val="50000"/>
                  </a:schemeClr>
                </a:solidFill>
              </a:rPr>
              <a:t>, T., Schwartz, S. Y., </a:t>
            </a:r>
            <a:r>
              <a:rPr lang="en-US" sz="800" dirty="0" err="1">
                <a:solidFill>
                  <a:schemeClr val="accent1">
                    <a:lumMod val="50000"/>
                  </a:schemeClr>
                </a:solidFill>
              </a:rPr>
              <a:t>Shaddox</a:t>
            </a:r>
            <a:r>
              <a:rPr lang="en-US" sz="800" dirty="0">
                <a:solidFill>
                  <a:schemeClr val="accent1">
                    <a:lumMod val="50000"/>
                  </a:schemeClr>
                </a:solidFill>
              </a:rPr>
              <a:t>, H. R., &amp; Small, D. T. (2021). Probing the southern Cascadia plate interface with the dense amphibious Cascadia initiative seismic array. Journal of Geophysical Research: Solid Earth, 126(7), e2021JB022180.</a:t>
            </a:r>
          </a:p>
          <a:p>
            <a:endParaRPr lang="en-US" sz="800" dirty="0">
              <a:solidFill>
                <a:schemeClr val="accent1">
                  <a:lumMod val="50000"/>
                </a:schemeClr>
              </a:solidFill>
            </a:endParaRPr>
          </a:p>
        </p:txBody>
      </p:sp>
      <p:pic>
        <p:nvPicPr>
          <p:cNvPr id="18" name="Picture 2" descr="Ambient noise cross correlation — CUSeisTut">
            <a:extLst>
              <a:ext uri="{FF2B5EF4-FFF2-40B4-BE49-F238E27FC236}">
                <a16:creationId xmlns:a16="http://schemas.microsoft.com/office/drawing/2014/main" id="{E1212421-D9AC-2499-BCA7-DE36B925F9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4" t="9810"/>
          <a:stretch/>
        </p:blipFill>
        <p:spPr bwMode="auto">
          <a:xfrm>
            <a:off x="1108503" y="2955884"/>
            <a:ext cx="5666370" cy="3053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293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Using Cross Correlations To Compute Phase Velocity</a:t>
            </a:r>
          </a:p>
        </p:txBody>
      </p:sp>
      <p:sp>
        <p:nvSpPr>
          <p:cNvPr id="17" name="Slide Number Placeholder 16">
            <a:extLst>
              <a:ext uri="{FF2B5EF4-FFF2-40B4-BE49-F238E27FC236}">
                <a16:creationId xmlns:a16="http://schemas.microsoft.com/office/drawing/2014/main" id="{23F778CA-1DF7-3818-8E1D-7FDBE2081201}"/>
              </a:ext>
            </a:extLst>
          </p:cNvPr>
          <p:cNvSpPr>
            <a:spLocks noGrp="1"/>
          </p:cNvSpPr>
          <p:nvPr>
            <p:ph type="sldNum" sz="quarter" idx="12"/>
          </p:nvPr>
        </p:nvSpPr>
        <p:spPr>
          <a:xfrm>
            <a:off x="11773257" y="6586878"/>
            <a:ext cx="344680" cy="269193"/>
          </a:xfrm>
          <a:prstGeom prst="rect">
            <a:avLst/>
          </a:prstGeom>
        </p:spPr>
        <p:txBody>
          <a:bodyPr/>
          <a:lstStyle/>
          <a:p>
            <a:fld id="{87E7843D-FF13-4365-9478-9625B70A2705}" type="slidenum">
              <a:rPr lang="en-US" smtClean="0"/>
              <a:pPr/>
              <a:t>4</a:t>
            </a:fld>
            <a:endParaRPr lang="en-US"/>
          </a:p>
        </p:txBody>
      </p:sp>
      <p:sp>
        <p:nvSpPr>
          <p:cNvPr id="2" name="TextBox 1">
            <a:extLst>
              <a:ext uri="{FF2B5EF4-FFF2-40B4-BE49-F238E27FC236}">
                <a16:creationId xmlns:a16="http://schemas.microsoft.com/office/drawing/2014/main" id="{0A42E3BA-D010-7053-6947-42C719E3C61B}"/>
              </a:ext>
            </a:extLst>
          </p:cNvPr>
          <p:cNvSpPr txBox="1"/>
          <p:nvPr/>
        </p:nvSpPr>
        <p:spPr>
          <a:xfrm>
            <a:off x="6380018" y="290945"/>
            <a:ext cx="184731" cy="369332"/>
          </a:xfrm>
          <a:prstGeom prst="rect">
            <a:avLst/>
          </a:prstGeom>
          <a:noFill/>
        </p:spPr>
        <p:txBody>
          <a:bodyPr wrap="none" rtlCol="0">
            <a:spAutoFit/>
          </a:bodyPr>
          <a:lstStyle/>
          <a:p>
            <a:endParaRPr lang="en-US" dirty="0"/>
          </a:p>
        </p:txBody>
      </p:sp>
      <p:pic>
        <p:nvPicPr>
          <p:cNvPr id="11" name="Picture 10">
            <a:extLst>
              <a:ext uri="{FF2B5EF4-FFF2-40B4-BE49-F238E27FC236}">
                <a16:creationId xmlns:a16="http://schemas.microsoft.com/office/drawing/2014/main" id="{08132BC2-CE4B-D5DE-2951-F1AA83ECCF8C}"/>
              </a:ext>
            </a:extLst>
          </p:cNvPr>
          <p:cNvPicPr>
            <a:picLocks noChangeAspect="1"/>
          </p:cNvPicPr>
          <p:nvPr/>
        </p:nvPicPr>
        <p:blipFill>
          <a:blip r:embed="rId2"/>
          <a:stretch>
            <a:fillRect/>
          </a:stretch>
        </p:blipFill>
        <p:spPr>
          <a:xfrm>
            <a:off x="964694" y="2149513"/>
            <a:ext cx="3393726" cy="967793"/>
          </a:xfrm>
          <a:prstGeom prst="rect">
            <a:avLst/>
          </a:prstGeom>
        </p:spPr>
      </p:pic>
      <p:pic>
        <p:nvPicPr>
          <p:cNvPr id="12" name="Picture 11">
            <a:extLst>
              <a:ext uri="{FF2B5EF4-FFF2-40B4-BE49-F238E27FC236}">
                <a16:creationId xmlns:a16="http://schemas.microsoft.com/office/drawing/2014/main" id="{3154DAA1-02E2-1672-A38A-5A95DF47BB92}"/>
              </a:ext>
            </a:extLst>
          </p:cNvPr>
          <p:cNvPicPr>
            <a:picLocks noChangeAspect="1"/>
          </p:cNvPicPr>
          <p:nvPr/>
        </p:nvPicPr>
        <p:blipFill>
          <a:blip r:embed="rId3"/>
          <a:stretch>
            <a:fillRect/>
          </a:stretch>
        </p:blipFill>
        <p:spPr>
          <a:xfrm>
            <a:off x="1358437" y="4046967"/>
            <a:ext cx="2606239" cy="587322"/>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5613174-69F6-3E2C-1B48-90C84FDC0B6C}"/>
                  </a:ext>
                </a:extLst>
              </p:cNvPr>
              <p:cNvSpPr txBox="1"/>
              <p:nvPr/>
            </p:nvSpPr>
            <p:spPr>
              <a:xfrm>
                <a:off x="4400330" y="2486877"/>
                <a:ext cx="898836" cy="553998"/>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𝑎𝑏</m:t>
                        </m:r>
                      </m:sub>
                    </m:sSub>
                  </m:oMath>
                </a14:m>
                <a:r>
                  <a:rPr lang="en-US" b="0" dirty="0"/>
                  <a:t>(</a:t>
                </a:r>
                <a14:m>
                  <m:oMath xmlns:m="http://schemas.openxmlformats.org/officeDocument/2006/math">
                    <m:r>
                      <a:rPr lang="en-US" i="1">
                        <a:latin typeface="Cambria Math" panose="02040503050406030204" pitchFamily="18" charset="0"/>
                      </a:rPr>
                      <m:t>𝜔</m:t>
                    </m:r>
                  </m:oMath>
                </a14:m>
                <a:r>
                  <a:rPr lang="en-US" b="0" dirty="0"/>
                  <a:t>)</a:t>
                </a:r>
              </a:p>
              <a:p>
                <a:endParaRPr lang="en-US" dirty="0"/>
              </a:p>
            </p:txBody>
          </p:sp>
        </mc:Choice>
        <mc:Fallback xmlns="">
          <p:sp>
            <p:nvSpPr>
              <p:cNvPr id="13" name="TextBox 12">
                <a:extLst>
                  <a:ext uri="{FF2B5EF4-FFF2-40B4-BE49-F238E27FC236}">
                    <a16:creationId xmlns:a16="http://schemas.microsoft.com/office/drawing/2014/main" id="{D5613174-69F6-3E2C-1B48-90C84FDC0B6C}"/>
                  </a:ext>
                </a:extLst>
              </p:cNvPr>
              <p:cNvSpPr txBox="1">
                <a:spLocks noRot="1" noChangeAspect="1" noMove="1" noResize="1" noEditPoints="1" noAdjustHandles="1" noChangeArrowheads="1" noChangeShapeType="1" noTextEdit="1"/>
              </p:cNvSpPr>
              <p:nvPr/>
            </p:nvSpPr>
            <p:spPr>
              <a:xfrm>
                <a:off x="4400330" y="2486877"/>
                <a:ext cx="898836" cy="553998"/>
              </a:xfrm>
              <a:prstGeom prst="rect">
                <a:avLst/>
              </a:prstGeom>
              <a:blipFill>
                <a:blip r:embed="rId4"/>
                <a:stretch>
                  <a:fillRect l="-6944" t="-11111" r="-13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6289CCB3-EC97-D3DE-57C7-AAD9B3BAC787}"/>
                  </a:ext>
                </a:extLst>
              </p:cNvPr>
              <p:cNvSpPr>
                <a:spLocks noGrp="1"/>
              </p:cNvSpPr>
              <p:nvPr>
                <p:ph idx="1"/>
              </p:nvPr>
            </p:nvSpPr>
            <p:spPr>
              <a:xfrm>
                <a:off x="167368" y="731327"/>
                <a:ext cx="11605889" cy="1532487"/>
              </a:xfrm>
            </p:spPr>
            <p:txBody>
              <a:bodyPr>
                <a:normAutofit/>
              </a:bodyPr>
              <a:lstStyle/>
              <a:p>
                <a:r>
                  <a:rPr lang="en-US" sz="1800" dirty="0">
                    <a:solidFill>
                      <a:schemeClr val="accent1">
                        <a:lumMod val="50000"/>
                      </a:schemeClr>
                    </a:solidFill>
                    <a:latin typeface="Calibri" panose="020F0502020204030204" pitchFamily="34" charset="0"/>
                    <a:cs typeface="Calibri" panose="020F0502020204030204" pitchFamily="34" charset="0"/>
                  </a:rPr>
                  <a:t>In frequency domain, cross correlation of ambient noise signals recorded at two stations </a:t>
                </a:r>
                <a14:m>
                  <m:oMath xmlns:m="http://schemas.openxmlformats.org/officeDocument/2006/math">
                    <m:sSub>
                      <m:sSubPr>
                        <m:ctrlPr>
                          <a:rPr lang="en-US" sz="1800" b="0" i="1" smtClean="0">
                            <a:solidFill>
                              <a:schemeClr val="accent1">
                                <a:lumMod val="50000"/>
                              </a:schemeClr>
                            </a:solidFill>
                            <a:latin typeface="Cambria Math" panose="02040503050406030204" pitchFamily="18" charset="0"/>
                          </a:rPr>
                        </m:ctrlPr>
                      </m:sSubPr>
                      <m:e>
                        <m:r>
                          <m:rPr>
                            <m:sty m:val="p"/>
                          </m:rPr>
                          <a:rPr lang="en-US" sz="1800" b="0" i="1" smtClean="0">
                            <a:solidFill>
                              <a:schemeClr val="accent1">
                                <a:lumMod val="50000"/>
                              </a:schemeClr>
                            </a:solidFill>
                            <a:latin typeface="Cambria Math" panose="02040503050406030204" pitchFamily="18" charset="0"/>
                          </a:rPr>
                          <m:t>u</m:t>
                        </m:r>
                      </m:e>
                      <m:sub>
                        <m:r>
                          <a:rPr lang="en-US" sz="1800" b="0" i="1" smtClean="0">
                            <a:solidFill>
                              <a:schemeClr val="accent1">
                                <a:lumMod val="50000"/>
                              </a:schemeClr>
                            </a:solidFill>
                            <a:latin typeface="Cambria Math" panose="02040503050406030204" pitchFamily="18" charset="0"/>
                          </a:rPr>
                          <m:t>𝑎</m:t>
                        </m:r>
                      </m:sub>
                    </m:sSub>
                  </m:oMath>
                </a14:m>
                <a:r>
                  <a:rPr lang="en-US" sz="1800" dirty="0">
                    <a:solidFill>
                      <a:schemeClr val="accent1">
                        <a:lumMod val="50000"/>
                      </a:schemeClr>
                    </a:solidFill>
                    <a:latin typeface="Calibri" panose="020F0502020204030204" pitchFamily="34" charset="0"/>
                    <a:cs typeface="Calibri" panose="020F0502020204030204" pitchFamily="34" charset="0"/>
                  </a:rPr>
                  <a:t> and </a:t>
                </a:r>
                <a14:m>
                  <m:oMath xmlns:m="http://schemas.openxmlformats.org/officeDocument/2006/math">
                    <m:sSub>
                      <m:sSubPr>
                        <m:ctrlPr>
                          <a:rPr lang="en-US" sz="1800" b="0" i="1" smtClean="0">
                            <a:solidFill>
                              <a:schemeClr val="accent1">
                                <a:lumMod val="50000"/>
                              </a:schemeClr>
                            </a:solidFill>
                            <a:latin typeface="Cambria Math" panose="02040503050406030204" pitchFamily="18" charset="0"/>
                          </a:rPr>
                        </m:ctrlPr>
                      </m:sSubPr>
                      <m:e>
                        <m:r>
                          <a:rPr lang="en-US" sz="1800" b="0" i="1" smtClean="0">
                            <a:solidFill>
                              <a:schemeClr val="accent1">
                                <a:lumMod val="50000"/>
                              </a:schemeClr>
                            </a:solidFill>
                            <a:latin typeface="Cambria Math" panose="02040503050406030204" pitchFamily="18" charset="0"/>
                          </a:rPr>
                          <m:t>𝑢</m:t>
                        </m:r>
                      </m:e>
                      <m:sub>
                        <m:r>
                          <a:rPr lang="en-US" sz="1800" b="0" i="1" smtClean="0">
                            <a:solidFill>
                              <a:schemeClr val="accent1">
                                <a:lumMod val="50000"/>
                              </a:schemeClr>
                            </a:solidFill>
                            <a:latin typeface="Cambria Math" panose="02040503050406030204" pitchFamily="18" charset="0"/>
                          </a:rPr>
                          <m:t>𝑏</m:t>
                        </m:r>
                      </m:sub>
                    </m:sSub>
                  </m:oMath>
                </a14:m>
                <a:r>
                  <a:rPr lang="en-US" sz="1800" dirty="0">
                    <a:solidFill>
                      <a:schemeClr val="accent1">
                        <a:lumMod val="50000"/>
                      </a:schemeClr>
                    </a:solidFill>
                    <a:latin typeface="Calibri" panose="020F0502020204030204" pitchFamily="34" charset="0"/>
                    <a:cs typeface="Calibri" panose="020F0502020204030204" pitchFamily="34" charset="0"/>
                  </a:rPr>
                  <a:t> when normalized by respective absolute spectrum takes the form of coherence </a:t>
                </a:r>
                <a14:m>
                  <m:oMath xmlns:m="http://schemas.openxmlformats.org/officeDocument/2006/math">
                    <m:sSub>
                      <m:sSubPr>
                        <m:ctrlPr>
                          <a:rPr lang="en-US" sz="1800" b="0" i="1" smtClean="0">
                            <a:solidFill>
                              <a:schemeClr val="accent1">
                                <a:lumMod val="50000"/>
                              </a:schemeClr>
                            </a:solidFill>
                            <a:latin typeface="Cambria Math" panose="02040503050406030204" pitchFamily="18" charset="0"/>
                          </a:rPr>
                        </m:ctrlPr>
                      </m:sSubPr>
                      <m:e>
                        <m:r>
                          <a:rPr lang="en-US" sz="1800" b="0" i="1" smtClean="0">
                            <a:solidFill>
                              <a:schemeClr val="accent1">
                                <a:lumMod val="50000"/>
                              </a:schemeClr>
                            </a:solidFill>
                            <a:latin typeface="Cambria Math" panose="02040503050406030204" pitchFamily="18" charset="0"/>
                          </a:rPr>
                          <m:t>𝛾</m:t>
                        </m:r>
                      </m:e>
                      <m:sub>
                        <m:r>
                          <a:rPr lang="en-US" sz="1800" b="0" i="1" smtClean="0">
                            <a:solidFill>
                              <a:schemeClr val="accent1">
                                <a:lumMod val="50000"/>
                              </a:schemeClr>
                            </a:solidFill>
                            <a:latin typeface="Cambria Math" panose="02040503050406030204" pitchFamily="18" charset="0"/>
                          </a:rPr>
                          <m:t>𝑎𝑏</m:t>
                        </m:r>
                      </m:sub>
                    </m:sSub>
                  </m:oMath>
                </a14:m>
                <a:endParaRPr lang="en-US" sz="1800" b="0" dirty="0">
                  <a:solidFill>
                    <a:schemeClr val="accent1">
                      <a:lumMod val="50000"/>
                    </a:schemeClr>
                  </a:solidFill>
                  <a:latin typeface="Calibri" panose="020F0502020204030204" pitchFamily="34" charset="0"/>
                  <a:cs typeface="Calibri" panose="020F0502020204030204" pitchFamily="34" charset="0"/>
                </a:endParaRPr>
              </a:p>
              <a:p>
                <a:r>
                  <a:rPr lang="en-US" sz="1800" dirty="0">
                    <a:solidFill>
                      <a:schemeClr val="accent1">
                        <a:lumMod val="50000"/>
                      </a:schemeClr>
                    </a:solidFill>
                    <a:latin typeface="Calibri" panose="020F0502020204030204" pitchFamily="34" charset="0"/>
                    <a:cs typeface="Calibri" panose="020F0502020204030204" pitchFamily="34" charset="0"/>
                  </a:rPr>
                  <a:t>Previous studies have identified that that Coherence is Proportional to Greens Function which can be studied by in frequency domain by using the shape of the Bessel. </a:t>
                </a:r>
                <a:r>
                  <a:rPr lang="en-US" sz="1800" dirty="0">
                    <a:solidFill>
                      <a:srgbClr val="0000FF"/>
                    </a:solidFill>
                    <a:effectLst/>
                    <a:latin typeface="Calibri" panose="020F0502020204030204" pitchFamily="34" charset="0"/>
                    <a:cs typeface="Calibri" panose="020F0502020204030204" pitchFamily="34" charset="0"/>
                  </a:rPr>
                  <a:t>Yokoi and </a:t>
                </a:r>
                <a:r>
                  <a:rPr lang="en-US" sz="1800" dirty="0" err="1">
                    <a:solidFill>
                      <a:srgbClr val="0000FF"/>
                    </a:solidFill>
                    <a:effectLst/>
                    <a:latin typeface="Calibri" panose="020F0502020204030204" pitchFamily="34" charset="0"/>
                    <a:cs typeface="Calibri" panose="020F0502020204030204" pitchFamily="34" charset="0"/>
                  </a:rPr>
                  <a:t>Margaryan</a:t>
                </a:r>
                <a:r>
                  <a:rPr lang="en-US" sz="1800" dirty="0">
                    <a:solidFill>
                      <a:srgbClr val="0000FF"/>
                    </a:solidFill>
                    <a:effectLst/>
                    <a:latin typeface="Calibri" panose="020F0502020204030204" pitchFamily="34" charset="0"/>
                    <a:cs typeface="Calibri" panose="020F0502020204030204" pitchFamily="34" charset="0"/>
                  </a:rPr>
                  <a:t> </a:t>
                </a:r>
                <a:r>
                  <a:rPr lang="en-US" sz="1800" dirty="0">
                    <a:effectLst/>
                    <a:latin typeface="Calibri" panose="020F0502020204030204" pitchFamily="34" charset="0"/>
                    <a:cs typeface="Calibri" panose="020F0502020204030204" pitchFamily="34" charset="0"/>
                  </a:rPr>
                  <a:t>(</a:t>
                </a:r>
                <a:r>
                  <a:rPr lang="en-US" sz="1800" dirty="0">
                    <a:solidFill>
                      <a:srgbClr val="0000FF"/>
                    </a:solidFill>
                    <a:effectLst/>
                    <a:latin typeface="Calibri" panose="020F0502020204030204" pitchFamily="34" charset="0"/>
                    <a:cs typeface="Calibri" panose="020F0502020204030204" pitchFamily="34" charset="0"/>
                  </a:rPr>
                  <a:t>2008</a:t>
                </a:r>
                <a:r>
                  <a:rPr lang="en-US" sz="1800" dirty="0">
                    <a:effectLst/>
                    <a:latin typeface="Calibri" panose="020F0502020204030204" pitchFamily="34" charset="0"/>
                    <a:cs typeface="Calibri" panose="020F0502020204030204" pitchFamily="34" charset="0"/>
                  </a:rPr>
                  <a:t>) </a:t>
                </a:r>
              </a:p>
            </p:txBody>
          </p:sp>
        </mc:Choice>
        <mc:Fallback xmlns="">
          <p:sp>
            <p:nvSpPr>
              <p:cNvPr id="14" name="Content Placeholder 2">
                <a:extLst>
                  <a:ext uri="{FF2B5EF4-FFF2-40B4-BE49-F238E27FC236}">
                    <a16:creationId xmlns:a16="http://schemas.microsoft.com/office/drawing/2014/main" id="{6289CCB3-EC97-D3DE-57C7-AAD9B3BAC787}"/>
                  </a:ext>
                </a:extLst>
              </p:cNvPr>
              <p:cNvSpPr>
                <a:spLocks noGrp="1" noRot="1" noChangeAspect="1" noMove="1" noResize="1" noEditPoints="1" noAdjustHandles="1" noChangeArrowheads="1" noChangeShapeType="1" noTextEdit="1"/>
              </p:cNvSpPr>
              <p:nvPr>
                <p:ph idx="1"/>
              </p:nvPr>
            </p:nvSpPr>
            <p:spPr>
              <a:xfrm>
                <a:off x="167368" y="731327"/>
                <a:ext cx="11605889" cy="1532487"/>
              </a:xfrm>
              <a:blipFill>
                <a:blip r:embed="rId5"/>
                <a:stretch>
                  <a:fillRect l="-219" t="-3279" r="-328"/>
                </a:stretch>
              </a:blipFill>
            </p:spPr>
            <p:txBody>
              <a:bodyPr/>
              <a:lstStyle/>
              <a:p>
                <a:r>
                  <a:rPr lang="en-US">
                    <a:noFill/>
                  </a:rPr>
                  <a:t> </a:t>
                </a:r>
              </a:p>
            </p:txBody>
          </p:sp>
        </mc:Fallback>
      </mc:AlternateContent>
      <p:sp>
        <p:nvSpPr>
          <p:cNvPr id="15" name="Content Placeholder 2">
            <a:extLst>
              <a:ext uri="{FF2B5EF4-FFF2-40B4-BE49-F238E27FC236}">
                <a16:creationId xmlns:a16="http://schemas.microsoft.com/office/drawing/2014/main" id="{68AAA126-29EA-56F6-9ECD-83432C07A56E}"/>
              </a:ext>
            </a:extLst>
          </p:cNvPr>
          <p:cNvSpPr txBox="1">
            <a:spLocks/>
          </p:cNvSpPr>
          <p:nvPr/>
        </p:nvSpPr>
        <p:spPr>
          <a:xfrm>
            <a:off x="167368" y="3278243"/>
            <a:ext cx="11605889" cy="538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00" dirty="0">
                <a:solidFill>
                  <a:schemeClr val="accent1">
                    <a:lumMod val="50000"/>
                  </a:schemeClr>
                </a:solidFill>
                <a:latin typeface="Calibri" panose="020F0502020204030204" pitchFamily="34" charset="0"/>
                <a:cs typeface="Calibri" panose="020F0502020204030204" pitchFamily="34" charset="0"/>
              </a:rPr>
              <a:t>Further studies have established that Real part of the coherence is equal to the 0th order Bessel. </a:t>
            </a:r>
            <a:r>
              <a:rPr lang="en-US" sz="1900" dirty="0">
                <a:solidFill>
                  <a:srgbClr val="0000FF"/>
                </a:solidFill>
                <a:effectLst/>
                <a:latin typeface="Calibri" panose="020F0502020204030204" pitchFamily="34" charset="0"/>
                <a:cs typeface="Calibri" panose="020F0502020204030204" pitchFamily="34" charset="0"/>
              </a:rPr>
              <a:t>Aki </a:t>
            </a:r>
            <a:r>
              <a:rPr lang="en-US" sz="1900" dirty="0">
                <a:effectLst/>
                <a:latin typeface="Calibri" panose="020F0502020204030204" pitchFamily="34" charset="0"/>
                <a:cs typeface="Calibri" panose="020F0502020204030204" pitchFamily="34" charset="0"/>
              </a:rPr>
              <a:t>(</a:t>
            </a:r>
            <a:r>
              <a:rPr lang="en-US" sz="1900" dirty="0">
                <a:solidFill>
                  <a:srgbClr val="0000FF"/>
                </a:solidFill>
                <a:effectLst/>
                <a:latin typeface="Calibri" panose="020F0502020204030204" pitchFamily="34" charset="0"/>
                <a:cs typeface="Calibri" panose="020F0502020204030204" pitchFamily="34" charset="0"/>
              </a:rPr>
              <a:t>1957</a:t>
            </a:r>
            <a:r>
              <a:rPr lang="en-US" sz="1900" dirty="0">
                <a:effectLst/>
                <a:latin typeface="Calibri" panose="020F0502020204030204" pitchFamily="34" charset="0"/>
                <a:cs typeface="Calibri" panose="020F0502020204030204" pitchFamily="34" charset="0"/>
              </a:rPr>
              <a:t>) </a:t>
            </a:r>
            <a:endParaRPr lang="en-US" sz="1900" dirty="0">
              <a:solidFill>
                <a:schemeClr val="accent1">
                  <a:lumMod val="50000"/>
                </a:schemeClr>
              </a:solidFill>
              <a:latin typeface="Calibri" panose="020F0502020204030204" pitchFamily="34" charset="0"/>
              <a:cs typeface="Calibri" panose="020F0502020204030204" pitchFamily="34" charset="0"/>
            </a:endParaRPr>
          </a:p>
          <a:p>
            <a:endParaRPr lang="en-US" sz="2200" dirty="0">
              <a:solidFill>
                <a:schemeClr val="accent1">
                  <a:lumMod val="50000"/>
                </a:schemeClr>
              </a:solidFill>
            </a:endParaRPr>
          </a:p>
        </p:txBody>
      </p:sp>
      <p:sp>
        <p:nvSpPr>
          <p:cNvPr id="16" name="Content Placeholder 2">
            <a:extLst>
              <a:ext uri="{FF2B5EF4-FFF2-40B4-BE49-F238E27FC236}">
                <a16:creationId xmlns:a16="http://schemas.microsoft.com/office/drawing/2014/main" id="{C5798E30-5F47-5D44-FB00-C11B1946DA29}"/>
              </a:ext>
            </a:extLst>
          </p:cNvPr>
          <p:cNvSpPr txBox="1">
            <a:spLocks/>
          </p:cNvSpPr>
          <p:nvPr/>
        </p:nvSpPr>
        <p:spPr>
          <a:xfrm>
            <a:off x="167368" y="4837651"/>
            <a:ext cx="11605889" cy="16042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accent1">
                    <a:lumMod val="50000"/>
                  </a:schemeClr>
                </a:solidFill>
                <a:latin typeface="Calibri" panose="020F0502020204030204" pitchFamily="34" charset="0"/>
                <a:cs typeface="Calibri" panose="020F0502020204030204" pitchFamily="34" charset="0"/>
              </a:rPr>
              <a:t>By fitting coherence with Bessel function, through grid search and other waveform fitting techniques, phase velocity estimation and related dispersion curves are computed.</a:t>
            </a:r>
          </a:p>
          <a:p>
            <a:r>
              <a:rPr lang="en-US" sz="1800" dirty="0">
                <a:solidFill>
                  <a:schemeClr val="accent1">
                    <a:lumMod val="50000"/>
                  </a:schemeClr>
                </a:solidFill>
                <a:latin typeface="Calibri" panose="020F0502020204030204" pitchFamily="34" charset="0"/>
                <a:cs typeface="Calibri" panose="020F0502020204030204" pitchFamily="34" charset="0"/>
              </a:rPr>
              <a:t>It is important to note that stronger coherence will lead to better Bessel function approximation and thus decreased uncertainty in the  phase velocity estimation.</a:t>
            </a:r>
          </a:p>
          <a:p>
            <a:endParaRPr lang="en-US" sz="1800" dirty="0">
              <a:solidFill>
                <a:schemeClr val="accent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7002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Challenges with Love Wave CCFs</a:t>
            </a:r>
          </a:p>
        </p:txBody>
      </p:sp>
      <p:sp>
        <p:nvSpPr>
          <p:cNvPr id="5" name="TextBox 4">
            <a:extLst>
              <a:ext uri="{FF2B5EF4-FFF2-40B4-BE49-F238E27FC236}">
                <a16:creationId xmlns:a16="http://schemas.microsoft.com/office/drawing/2014/main" id="{A528EC7D-5DDA-AAD0-A70F-3D793D4445FD}"/>
              </a:ext>
            </a:extLst>
          </p:cNvPr>
          <p:cNvSpPr txBox="1"/>
          <p:nvPr/>
        </p:nvSpPr>
        <p:spPr>
          <a:xfrm>
            <a:off x="5580530" y="5675230"/>
            <a:ext cx="6527916" cy="369332"/>
          </a:xfrm>
          <a:prstGeom prst="rect">
            <a:avLst/>
          </a:prstGeom>
          <a:noFill/>
        </p:spPr>
        <p:txBody>
          <a:bodyPr wrap="square" rtlCol="0">
            <a:spAutoFit/>
          </a:bodyPr>
          <a:lstStyle/>
          <a:p>
            <a:r>
              <a:rPr lang="en-US" sz="900" b="0" i="0" dirty="0">
                <a:solidFill>
                  <a:schemeClr val="accent1">
                    <a:lumMod val="50000"/>
                  </a:schemeClr>
                </a:solidFill>
                <a:effectLst/>
                <a:latin typeface="Lato" panose="020F0502020204030203" pitchFamily="34" charset="0"/>
              </a:rPr>
              <a:t>Figure taken from Tolulope Olugboji</a:t>
            </a:r>
            <a:r>
              <a:rPr lang="en-US" sz="900" b="0" i="0" u="none" strike="noStrike" dirty="0">
                <a:solidFill>
                  <a:schemeClr val="accent1">
                    <a:lumMod val="50000"/>
                  </a:schemeClr>
                </a:solidFill>
                <a:effectLst/>
                <a:latin typeface="Lato" panose="020F0502020204030203" pitchFamily="34" charset="0"/>
              </a:rPr>
              <a:t>, </a:t>
            </a:r>
            <a:r>
              <a:rPr lang="en-US" sz="900" b="0" i="0" dirty="0" err="1">
                <a:solidFill>
                  <a:schemeClr val="accent1">
                    <a:lumMod val="50000"/>
                  </a:schemeClr>
                </a:solidFill>
                <a:effectLst/>
                <a:latin typeface="Lato" panose="020F0502020204030203" pitchFamily="34" charset="0"/>
              </a:rPr>
              <a:t>Siyu</a:t>
            </a:r>
            <a:r>
              <a:rPr lang="en-US" sz="900" b="0" i="0" dirty="0">
                <a:solidFill>
                  <a:schemeClr val="accent1">
                    <a:lumMod val="50000"/>
                  </a:schemeClr>
                </a:solidFill>
                <a:effectLst/>
                <a:latin typeface="Lato" panose="020F0502020204030203" pitchFamily="34" charset="0"/>
              </a:rPr>
              <a:t> </a:t>
            </a:r>
            <a:r>
              <a:rPr lang="en-US" sz="900" b="0" i="0" dirty="0" err="1">
                <a:solidFill>
                  <a:schemeClr val="accent1">
                    <a:lumMod val="50000"/>
                  </a:schemeClr>
                </a:solidFill>
                <a:effectLst/>
                <a:latin typeface="Lato" panose="020F0502020204030203" pitchFamily="34" charset="0"/>
              </a:rPr>
              <a:t>Xue</a:t>
            </a:r>
            <a:r>
              <a:rPr lang="en-US" sz="900" b="0" i="0" dirty="0">
                <a:solidFill>
                  <a:schemeClr val="accent1">
                    <a:lumMod val="50000"/>
                  </a:schemeClr>
                </a:solidFill>
                <a:effectLst/>
                <a:latin typeface="Lato" panose="020F0502020204030203" pitchFamily="34" charset="0"/>
              </a:rPr>
              <a:t>; A Short‐Period Surface‐Wave Dispersion Dataset for Model Assessment of Africa’s Crust: ADAMA. </a:t>
            </a:r>
            <a:r>
              <a:rPr lang="en-US" sz="900" b="0" i="1" dirty="0">
                <a:solidFill>
                  <a:schemeClr val="accent1">
                    <a:lumMod val="50000"/>
                  </a:schemeClr>
                </a:solidFill>
                <a:effectLst/>
                <a:latin typeface="Lato" panose="020F0502020204030203" pitchFamily="34" charset="0"/>
              </a:rPr>
              <a:t>Seismological Research Letters</a:t>
            </a:r>
            <a:r>
              <a:rPr lang="en-US" sz="900" b="0" i="0" dirty="0">
                <a:solidFill>
                  <a:schemeClr val="accent1">
                    <a:lumMod val="50000"/>
                  </a:schemeClr>
                </a:solidFill>
                <a:effectLst/>
                <a:latin typeface="Lato" panose="020F0502020204030203" pitchFamily="34" charset="0"/>
              </a:rPr>
              <a:t> 2022;; 93 (3): 1943–1959. </a:t>
            </a:r>
            <a:r>
              <a:rPr lang="en-US" sz="900" b="0" i="0" dirty="0" err="1">
                <a:solidFill>
                  <a:schemeClr val="accent1">
                    <a:lumMod val="50000"/>
                  </a:schemeClr>
                </a:solidFill>
                <a:effectLst/>
                <a:latin typeface="Lato" panose="020F0502020204030203" pitchFamily="34" charset="0"/>
              </a:rPr>
              <a:t>doi</a:t>
            </a:r>
            <a:r>
              <a:rPr lang="en-US" sz="900" b="0" i="0" dirty="0">
                <a:solidFill>
                  <a:schemeClr val="accent1">
                    <a:lumMod val="50000"/>
                  </a:schemeClr>
                </a:solidFill>
                <a:effectLst/>
                <a:latin typeface="Lato" panose="020F0502020204030203" pitchFamily="34" charset="0"/>
              </a:rPr>
              <a:t>: </a:t>
            </a:r>
            <a:r>
              <a:rPr lang="en-US" sz="900" b="0" i="0" u="none" strike="noStrike" dirty="0">
                <a:solidFill>
                  <a:schemeClr val="accent1">
                    <a:lumMod val="50000"/>
                  </a:schemeClr>
                </a:solidFill>
                <a:effectLst/>
                <a:latin typeface="Lato" panose="020F0502020204030203" pitchFamily="34" charset="0"/>
                <a:hlinkClick r:id="rId6">
                  <a:extLst>
                    <a:ext uri="{A12FA001-AC4F-418D-AE19-62706E023703}">
                      <ahyp:hlinkClr xmlns:ahyp="http://schemas.microsoft.com/office/drawing/2018/hyperlinkcolor" val="tx"/>
                    </a:ext>
                  </a:extLst>
                </a:hlinkClick>
              </a:rPr>
              <a:t>https://doi.org/10.1785/0220210355</a:t>
            </a:r>
            <a:endParaRPr lang="en-US" sz="900" dirty="0">
              <a:solidFill>
                <a:schemeClr val="accent1">
                  <a:lumMod val="50000"/>
                </a:schemeClr>
              </a:solidFill>
            </a:endParaRPr>
          </a:p>
        </p:txBody>
      </p:sp>
      <p:sp>
        <p:nvSpPr>
          <p:cNvPr id="7" name="TextBox 6">
            <a:extLst>
              <a:ext uri="{FF2B5EF4-FFF2-40B4-BE49-F238E27FC236}">
                <a16:creationId xmlns:a16="http://schemas.microsoft.com/office/drawing/2014/main" id="{5868AA8E-E5AB-55EC-C9A1-C2D8F43E1DE1}"/>
              </a:ext>
            </a:extLst>
          </p:cNvPr>
          <p:cNvSpPr txBox="1"/>
          <p:nvPr/>
        </p:nvSpPr>
        <p:spPr>
          <a:xfrm>
            <a:off x="5838394" y="4661115"/>
            <a:ext cx="5833149" cy="523220"/>
          </a:xfrm>
          <a:prstGeom prst="rect">
            <a:avLst/>
          </a:prstGeom>
          <a:noFill/>
        </p:spPr>
        <p:txBody>
          <a:bodyPr wrap="square" rtlCol="0">
            <a:spAutoFit/>
          </a:bodyPr>
          <a:lstStyle/>
          <a:p>
            <a:pPr algn="ctr"/>
            <a:r>
              <a:rPr lang="en-US" sz="1400" dirty="0"/>
              <a:t>Estimation of Rayleigh and Love wave Bessel Function Estimation on two different stations</a:t>
            </a:r>
          </a:p>
        </p:txBody>
      </p:sp>
      <p:pic>
        <p:nvPicPr>
          <p:cNvPr id="8" name="Picture 2" descr="The estimation of Rayleigh‐ and Love‐phase dispersion and uncertainties on two different networks. (a,b) Extracting reference dispersion c0 using the zeros, peaks, and troughs (black, red, and blue dots) of the stacked NCFs: ρ‾ (blue curves). (c,d) Nonlinear waveform fitting of ρ‾ using the corrected Bessel function (red curve: ρcorr, see equations 6–8). (e,f) A final high‐resolution dispersion curve cf (red line) and associated uncertainties C˜ (gray envelope) obtained from nonlinear waveform fitting using a preoptimized model‐dispersion pair {m1,c1}, in which c1 (not shown) is itself derived from c0 (green line, see equation 5). A reference dispersion curve (dotted lines) from Litho1 c(ω,m0) acts as a low‐frequency anchor when tracking the position of the zeros, peaks, and troughs (gray curve in a,b). (b,d,f) Love response, although noisier (low signal‐to‐noise ratio [SNR] in ρ‾ and a poor starting m0) than (a,c,e) Rayleigh, can still be used to extract a reliable cfL robust to missed zero crossings. Rayleigh response is from the XD network on the Tanzanian Craton (r=109.5  km, N = 1749 records), and Love is from XA network on the Kalahari craton (r=220.4  km, N = 1760 records). See Figure S1 for Love and Rayleigh of XD and XA station pairs. The color version of this figure is available only in the electronic edition.">
            <a:extLst>
              <a:ext uri="{FF2B5EF4-FFF2-40B4-BE49-F238E27FC236}">
                <a16:creationId xmlns:a16="http://schemas.microsoft.com/office/drawing/2014/main" id="{96B6F68F-0400-FFCD-E4EA-32EF76EA645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31390"/>
          <a:stretch/>
        </p:blipFill>
        <p:spPr bwMode="auto">
          <a:xfrm>
            <a:off x="5234023" y="1444171"/>
            <a:ext cx="6785610" cy="311568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9C1DEC44-C46E-D0AB-72E5-92CBD3A9FDE2}"/>
              </a:ext>
            </a:extLst>
          </p:cNvPr>
          <p:cNvSpPr txBox="1">
            <a:spLocks/>
          </p:cNvSpPr>
          <p:nvPr/>
        </p:nvSpPr>
        <p:spPr>
          <a:xfrm>
            <a:off x="125683" y="894514"/>
            <a:ext cx="4968240" cy="45105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accent1">
                    <a:lumMod val="50000"/>
                  </a:schemeClr>
                </a:solidFill>
                <a:latin typeface="Calibri" panose="020F0502020204030204" pitchFamily="34" charset="0"/>
                <a:cs typeface="Calibri" panose="020F0502020204030204" pitchFamily="34" charset="0"/>
              </a:rPr>
              <a:t>Prior work shows that Coherence of Raleigh wave fits with the Bessel function strongly and coherently. </a:t>
            </a:r>
            <a:r>
              <a:rPr lang="en-US" sz="1800" dirty="0">
                <a:solidFill>
                  <a:srgbClr val="0000FF"/>
                </a:solidFill>
                <a:effectLst/>
                <a:latin typeface="Calibri" panose="020F0502020204030204" pitchFamily="34" charset="0"/>
                <a:cs typeface="Calibri" panose="020F0502020204030204" pitchFamily="34" charset="0"/>
              </a:rPr>
              <a:t>Olugboji and </a:t>
            </a:r>
            <a:r>
              <a:rPr lang="en-US" sz="1800" dirty="0" err="1">
                <a:solidFill>
                  <a:srgbClr val="0000FF"/>
                </a:solidFill>
                <a:effectLst/>
                <a:latin typeface="Calibri" panose="020F0502020204030204" pitchFamily="34" charset="0"/>
                <a:cs typeface="Calibri" panose="020F0502020204030204" pitchFamily="34" charset="0"/>
              </a:rPr>
              <a:t>Xue</a:t>
            </a:r>
            <a:r>
              <a:rPr lang="en-US" sz="1800" dirty="0">
                <a:solidFill>
                  <a:srgbClr val="0000FF"/>
                </a:solidFill>
                <a:effectLst/>
                <a:latin typeface="Calibri" panose="020F0502020204030204" pitchFamily="34" charset="0"/>
                <a:cs typeface="Calibri" panose="020F0502020204030204" pitchFamily="34" charset="0"/>
              </a:rPr>
              <a:t> </a:t>
            </a:r>
            <a:r>
              <a:rPr lang="en-US" sz="1800" dirty="0">
                <a:effectLst/>
                <a:latin typeface="Calibri" panose="020F0502020204030204" pitchFamily="34" charset="0"/>
                <a:cs typeface="Calibri" panose="020F0502020204030204" pitchFamily="34" charset="0"/>
              </a:rPr>
              <a:t>(</a:t>
            </a:r>
            <a:r>
              <a:rPr lang="en-US" sz="1800" dirty="0">
                <a:solidFill>
                  <a:srgbClr val="0000FF"/>
                </a:solidFill>
                <a:effectLst/>
                <a:latin typeface="Calibri" panose="020F0502020204030204" pitchFamily="34" charset="0"/>
                <a:cs typeface="Calibri" panose="020F0502020204030204" pitchFamily="34" charset="0"/>
              </a:rPr>
              <a:t>2022</a:t>
            </a:r>
            <a:r>
              <a:rPr lang="en-US" sz="1800" dirty="0">
                <a:effectLst/>
                <a:latin typeface="Calibri" panose="020F0502020204030204" pitchFamily="34" charset="0"/>
                <a:cs typeface="Calibri" panose="020F0502020204030204" pitchFamily="34" charset="0"/>
              </a:rPr>
              <a:t>) </a:t>
            </a:r>
            <a:endParaRPr lang="en-US" sz="1800" dirty="0">
              <a:solidFill>
                <a:schemeClr val="accent1">
                  <a:lumMod val="50000"/>
                </a:schemeClr>
              </a:solidFill>
              <a:latin typeface="Calibri" panose="020F0502020204030204" pitchFamily="34" charset="0"/>
              <a:cs typeface="Calibri" panose="020F0502020204030204" pitchFamily="34" charset="0"/>
            </a:endParaRPr>
          </a:p>
          <a:p>
            <a:r>
              <a:rPr lang="en-US" sz="1800" dirty="0">
                <a:solidFill>
                  <a:schemeClr val="accent1">
                    <a:lumMod val="50000"/>
                  </a:schemeClr>
                </a:solidFill>
                <a:latin typeface="Calibri" panose="020F0502020204030204" pitchFamily="34" charset="0"/>
                <a:cs typeface="Calibri" panose="020F0502020204030204" pitchFamily="34" charset="0"/>
              </a:rPr>
              <a:t>Notable that Love waves lacks enough distinguishable peaks/troughs and zero-crossings.</a:t>
            </a:r>
          </a:p>
          <a:p>
            <a:r>
              <a:rPr lang="en-US" sz="1800" dirty="0">
                <a:solidFill>
                  <a:schemeClr val="accent1">
                    <a:lumMod val="50000"/>
                  </a:schemeClr>
                </a:solidFill>
                <a:latin typeface="Calibri" panose="020F0502020204030204" pitchFamily="34" charset="0"/>
                <a:cs typeface="Calibri" panose="020F0502020204030204" pitchFamily="34" charset="0"/>
              </a:rPr>
              <a:t>Love wave being more noisier struggles to follow the Bessel function.</a:t>
            </a:r>
          </a:p>
          <a:p>
            <a:r>
              <a:rPr lang="en-US" sz="1800" dirty="0">
                <a:solidFill>
                  <a:schemeClr val="accent1">
                    <a:lumMod val="50000"/>
                  </a:schemeClr>
                </a:solidFill>
                <a:latin typeface="Calibri" panose="020F0502020204030204" pitchFamily="34" charset="0"/>
                <a:cs typeface="Calibri" panose="020F0502020204030204" pitchFamily="34" charset="0"/>
              </a:rPr>
              <a:t>This calls for a more robust frequency domain coherence calculation for improved phase velocity estimation.</a:t>
            </a:r>
          </a:p>
        </p:txBody>
      </p:sp>
      <p:pic>
        <p:nvPicPr>
          <p:cNvPr id="10" name="A_006D_LoveWave_braile">
            <a:hlinkClick r:id="" action="ppaction://media"/>
            <a:extLst>
              <a:ext uri="{FF2B5EF4-FFF2-40B4-BE49-F238E27FC236}">
                <a16:creationId xmlns:a16="http://schemas.microsoft.com/office/drawing/2014/main" id="{11FCA297-B814-65E6-4676-F598D97F3F72}"/>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2812876" y="4382946"/>
            <a:ext cx="2282299" cy="1711725"/>
          </a:xfrm>
          <a:prstGeom prst="rect">
            <a:avLst/>
          </a:prstGeom>
        </p:spPr>
      </p:pic>
      <p:pic>
        <p:nvPicPr>
          <p:cNvPr id="18" name="A_006C_RaleighWave_braile">
            <a:hlinkClick r:id="" action="ppaction://media"/>
            <a:extLst>
              <a:ext uri="{FF2B5EF4-FFF2-40B4-BE49-F238E27FC236}">
                <a16:creationId xmlns:a16="http://schemas.microsoft.com/office/drawing/2014/main" id="{C8A5F266-425C-A64A-5D5C-7BDBB4864A74}"/>
              </a:ext>
            </a:extLst>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357153" y="4393596"/>
            <a:ext cx="2253902" cy="1690427"/>
          </a:xfrm>
          <a:prstGeom prst="rect">
            <a:avLst/>
          </a:prstGeom>
        </p:spPr>
      </p:pic>
    </p:spTree>
    <p:extLst>
      <p:ext uri="{BB962C8B-B14F-4D97-AF65-F5344CB8AC3E}">
        <p14:creationId xmlns:p14="http://schemas.microsoft.com/office/powerpoint/2010/main" val="36120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744"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901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10"/>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0"/>
                                        </p:tgtEl>
                                      </p:cBhvr>
                                    </p:cmd>
                                  </p:childTnLst>
                                </p:cTn>
                              </p:par>
                            </p:childTnLst>
                          </p:cTn>
                        </p:par>
                      </p:childTnLst>
                    </p:cTn>
                  </p:par>
                </p:childTnLst>
              </p:cTn>
              <p:nextCondLst>
                <p:cond evt="onClick" delay="0">
                  <p:tgtEl>
                    <p:spTgt spid="10"/>
                  </p:tgtEl>
                </p:cond>
              </p:nextCondLst>
            </p:seq>
            <p:seq concurrent="1" nextAc="seek">
              <p:cTn id="16" restart="whenNotActive" fill="hold" evtFilter="cancelBubble" nodeType="interactiveSeq">
                <p:stCondLst>
                  <p:cond evt="onClick" delay="0">
                    <p:tgtEl>
                      <p:spTgt spid="18"/>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8"/>
                                        </p:tgtEl>
                                      </p:cBhvr>
                                    </p:cmd>
                                  </p:childTnLst>
                                </p:cTn>
                              </p:par>
                            </p:childTnLst>
                          </p:cTn>
                        </p:par>
                      </p:childTnLst>
                    </p:cTn>
                  </p:par>
                </p:childTnLst>
              </p:cTn>
              <p:nextCondLst>
                <p:cond evt="onClick" delay="0">
                  <p:tgtEl>
                    <p:spTgt spid="18"/>
                  </p:tgtEl>
                </p:cond>
              </p:nextCondLst>
            </p:seq>
            <p:video>
              <p:cMediaNode vol="80000">
                <p:cTn id="21" fill="hold" display="0">
                  <p:stCondLst>
                    <p:cond delay="indefinite"/>
                  </p:stCondLst>
                </p:cTn>
                <p:tgtEl>
                  <p:spTgt spid="10"/>
                </p:tgtEl>
              </p:cMediaNode>
            </p:video>
            <p:video>
              <p:cMediaNode vol="80000">
                <p:cTn id="22" fill="hold" display="0">
                  <p:stCondLst>
                    <p:cond delay="indefinite"/>
                  </p:stCondLst>
                </p:cTn>
                <p:tgtEl>
                  <p:spTgt spid="18"/>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Introducing Multi-Taper Technique</a:t>
            </a:r>
          </a:p>
        </p:txBody>
      </p:sp>
      <p:pic>
        <p:nvPicPr>
          <p:cNvPr id="3" name="Picture 2">
            <a:extLst>
              <a:ext uri="{FF2B5EF4-FFF2-40B4-BE49-F238E27FC236}">
                <a16:creationId xmlns:a16="http://schemas.microsoft.com/office/drawing/2014/main" id="{F0770D8F-CE98-A83E-FF56-2A28C3BB4ABC}"/>
              </a:ext>
            </a:extLst>
          </p:cNvPr>
          <p:cNvPicPr>
            <a:picLocks noChangeAspect="1"/>
          </p:cNvPicPr>
          <p:nvPr/>
        </p:nvPicPr>
        <p:blipFill>
          <a:blip r:embed="rId2"/>
          <a:stretch>
            <a:fillRect/>
          </a:stretch>
        </p:blipFill>
        <p:spPr>
          <a:xfrm>
            <a:off x="4374292" y="1476761"/>
            <a:ext cx="7646258" cy="3360423"/>
          </a:xfrm>
          <a:prstGeom prst="rect">
            <a:avLst/>
          </a:prstGeom>
        </p:spPr>
      </p:pic>
      <p:sp>
        <p:nvSpPr>
          <p:cNvPr id="4" name="TextBox 3">
            <a:extLst>
              <a:ext uri="{FF2B5EF4-FFF2-40B4-BE49-F238E27FC236}">
                <a16:creationId xmlns:a16="http://schemas.microsoft.com/office/drawing/2014/main" id="{4C96379D-60F8-BEE0-E3E3-D0133DE6C025}"/>
              </a:ext>
            </a:extLst>
          </p:cNvPr>
          <p:cNvSpPr txBox="1"/>
          <p:nvPr/>
        </p:nvSpPr>
        <p:spPr>
          <a:xfrm>
            <a:off x="80009" y="1305341"/>
            <a:ext cx="4149090" cy="4247317"/>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accent1">
                    <a:lumMod val="50000"/>
                  </a:schemeClr>
                </a:solidFill>
                <a:latin typeface="Calibri" panose="020F0502020204030204" pitchFamily="34" charset="0"/>
                <a:cs typeface="Calibri" panose="020F0502020204030204" pitchFamily="34" charset="0"/>
              </a:rPr>
              <a:t>It is a non-parametric technique that computes the Fast Fourier Transform (FFT) of a discretely sampled time series data after applying a set of tapers/windows </a:t>
            </a:r>
            <a:r>
              <a:rPr lang="en-US" dirty="0">
                <a:solidFill>
                  <a:srgbClr val="0000FF"/>
                </a:solidFill>
                <a:effectLst/>
                <a:latin typeface="Calibri" panose="020F0502020204030204" pitchFamily="34" charset="0"/>
                <a:cs typeface="Calibri" panose="020F0502020204030204" pitchFamily="34" charset="0"/>
              </a:rPr>
              <a:t>Thomson </a:t>
            </a:r>
            <a:r>
              <a:rPr lang="en-US" dirty="0">
                <a:effectLst/>
                <a:latin typeface="Calibri" panose="020F0502020204030204" pitchFamily="34" charset="0"/>
                <a:cs typeface="Calibri" panose="020F0502020204030204" pitchFamily="34" charset="0"/>
              </a:rPr>
              <a:t>(</a:t>
            </a:r>
            <a:r>
              <a:rPr lang="en-US" dirty="0">
                <a:solidFill>
                  <a:srgbClr val="0000FF"/>
                </a:solidFill>
                <a:effectLst/>
                <a:latin typeface="Calibri" panose="020F0502020204030204" pitchFamily="34" charset="0"/>
                <a:cs typeface="Calibri" panose="020F0502020204030204" pitchFamily="34" charset="0"/>
              </a:rPr>
              <a:t>1982</a:t>
            </a:r>
            <a:r>
              <a:rPr lang="en-US" dirty="0">
                <a:effectLst/>
                <a:latin typeface="Calibri" panose="020F0502020204030204" pitchFamily="34" charset="0"/>
                <a:cs typeface="Calibri" panose="020F0502020204030204" pitchFamily="34" charset="0"/>
              </a:rPr>
              <a:t>)</a:t>
            </a:r>
          </a:p>
          <a:p>
            <a:r>
              <a:rPr lang="en-US" dirty="0">
                <a:effectLst/>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solidFill>
                  <a:schemeClr val="accent1">
                    <a:lumMod val="50000"/>
                  </a:schemeClr>
                </a:solidFill>
                <a:latin typeface="Calibri" panose="020F0502020204030204" pitchFamily="34" charset="0"/>
                <a:cs typeface="Calibri" panose="020F0502020204030204" pitchFamily="34" charset="0"/>
              </a:rPr>
              <a:t>Employs multiple orthogonal tapers known as Discrete Prolate Spheroidal Sequences (DPSS).</a:t>
            </a:r>
          </a:p>
          <a:p>
            <a:endParaRPr lang="en-US" dirty="0">
              <a:solidFill>
                <a:schemeClr val="accent1">
                  <a:lumMod val="50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chemeClr val="accent1">
                    <a:lumMod val="50000"/>
                  </a:schemeClr>
                </a:solidFill>
                <a:latin typeface="Calibri" panose="020F0502020204030204" pitchFamily="34" charset="0"/>
                <a:cs typeface="Calibri" panose="020F0502020204030204" pitchFamily="34" charset="0"/>
              </a:rPr>
              <a:t>These tapers are designed to minimize spectral leakage (bias) and spectral estimation variance while providing enhanced frequency resolution </a:t>
            </a:r>
          </a:p>
          <a:p>
            <a:pPr marL="285750" indent="-285750">
              <a:buFont typeface="Arial" panose="020B0604020202020204" pitchFamily="34" charset="0"/>
              <a:buChar char="•"/>
            </a:pP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5A9595F-D63F-F4C8-A6FF-9EF31C8DA4A1}"/>
              </a:ext>
            </a:extLst>
          </p:cNvPr>
          <p:cNvSpPr txBox="1"/>
          <p:nvPr/>
        </p:nvSpPr>
        <p:spPr>
          <a:xfrm>
            <a:off x="80009" y="6297678"/>
            <a:ext cx="6902822" cy="261610"/>
          </a:xfrm>
          <a:prstGeom prst="rect">
            <a:avLst/>
          </a:prstGeom>
          <a:noFill/>
        </p:spPr>
        <p:txBody>
          <a:bodyPr wrap="square">
            <a:spAutoFit/>
          </a:bodyPr>
          <a:lstStyle/>
          <a:p>
            <a:r>
              <a:rPr lang="en-US" sz="1100" dirty="0"/>
              <a:t>Figure taken from https://</a:t>
            </a:r>
            <a:r>
              <a:rPr lang="en-US" sz="1100" dirty="0" err="1"/>
              <a:t>www.youtube.com</a:t>
            </a:r>
            <a:r>
              <a:rPr lang="en-US" sz="1100" dirty="0"/>
              <a:t>/</a:t>
            </a:r>
            <a:r>
              <a:rPr lang="en-US" sz="1100" dirty="0" err="1"/>
              <a:t>watch?v</a:t>
            </a:r>
            <a:r>
              <a:rPr lang="en-US" sz="1100" dirty="0"/>
              <a:t>=OBwnmiVT9TE</a:t>
            </a:r>
          </a:p>
        </p:txBody>
      </p:sp>
    </p:spTree>
    <p:extLst>
      <p:ext uri="{BB962C8B-B14F-4D97-AF65-F5344CB8AC3E}">
        <p14:creationId xmlns:p14="http://schemas.microsoft.com/office/powerpoint/2010/main" val="1925101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dirty="0">
                <a:solidFill>
                  <a:schemeClr val="bg1"/>
                </a:solidFill>
                <a:latin typeface="Times New Roman" panose="02020603050405020304" pitchFamily="18" charset="0"/>
                <a:cs typeface="Times New Roman" panose="02020603050405020304" pitchFamily="18" charset="0"/>
              </a:rPr>
              <a:t>Multi-Taper Workflow</a:t>
            </a:r>
            <a:endParaRPr lang="en-US" sz="2400" b="1" kern="1200" dirty="0">
              <a:solidFill>
                <a:schemeClr val="bg1"/>
              </a:solidFill>
              <a:latin typeface="Times New Roman" panose="02020603050405020304" pitchFamily="18" charset="0"/>
              <a:cs typeface="Times New Roman" panose="02020603050405020304" pitchFamily="18" charset="0"/>
            </a:endParaRPr>
          </a:p>
        </p:txBody>
      </p:sp>
      <p:pic>
        <p:nvPicPr>
          <p:cNvPr id="2" name="Picture 1" descr="A screenshot of a diagram&#10;&#10;Description automatically generated">
            <a:extLst>
              <a:ext uri="{FF2B5EF4-FFF2-40B4-BE49-F238E27FC236}">
                <a16:creationId xmlns:a16="http://schemas.microsoft.com/office/drawing/2014/main" id="{B412E16A-93EB-61D4-397E-961C4E7A70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01022" y="591720"/>
            <a:ext cx="6794700" cy="5944162"/>
          </a:xfrm>
          <a:prstGeom prst="rect">
            <a:avLst/>
          </a:prstGeom>
        </p:spPr>
      </p:pic>
    </p:spTree>
    <p:extLst>
      <p:ext uri="{BB962C8B-B14F-4D97-AF65-F5344CB8AC3E}">
        <p14:creationId xmlns:p14="http://schemas.microsoft.com/office/powerpoint/2010/main" val="1802789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Does Multi-Taper Works on Synthetic Datasets</a:t>
            </a:r>
          </a:p>
        </p:txBody>
      </p:sp>
      <p:pic>
        <p:nvPicPr>
          <p:cNvPr id="3" name="Picture 2" descr="A graph of a graph of a graph&#10;&#10;Description automatically generated with medium confidence">
            <a:extLst>
              <a:ext uri="{FF2B5EF4-FFF2-40B4-BE49-F238E27FC236}">
                <a16:creationId xmlns:a16="http://schemas.microsoft.com/office/drawing/2014/main" id="{DB442C14-15E2-1BE7-3C9C-E4EEBC7ED9A4}"/>
              </a:ext>
            </a:extLst>
          </p:cNvPr>
          <p:cNvPicPr>
            <a:picLocks noChangeAspect="1"/>
          </p:cNvPicPr>
          <p:nvPr/>
        </p:nvPicPr>
        <p:blipFill rotWithShape="1">
          <a:blip r:embed="rId2">
            <a:extLst>
              <a:ext uri="{28A0092B-C50C-407E-A947-70E740481C1C}">
                <a14:useLocalDpi xmlns:a14="http://schemas.microsoft.com/office/drawing/2010/main" val="0"/>
              </a:ext>
            </a:extLst>
          </a:blip>
          <a:srcRect t="5753" r="34074"/>
          <a:stretch/>
        </p:blipFill>
        <p:spPr bwMode="auto">
          <a:xfrm>
            <a:off x="5272311" y="1366736"/>
            <a:ext cx="6648604" cy="4124527"/>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1D97D5DE-E102-DB62-2DAF-4D05C078F271}"/>
              </a:ext>
            </a:extLst>
          </p:cNvPr>
          <p:cNvSpPr txBox="1"/>
          <p:nvPr/>
        </p:nvSpPr>
        <p:spPr>
          <a:xfrm>
            <a:off x="271085" y="1073105"/>
            <a:ext cx="4913979" cy="4801314"/>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Baseline test:</a:t>
            </a:r>
            <a:r>
              <a:rPr lang="en-US" dirty="0">
                <a:latin typeface="Calibri" panose="020F0502020204030204" pitchFamily="34" charset="0"/>
                <a:cs typeface="Calibri" panose="020F0502020204030204" pitchFamily="34" charset="0"/>
              </a:rPr>
              <a:t> Synthetic ambient-noise waveform generated using NLNM spectrum </a:t>
            </a:r>
            <a:r>
              <a:rPr lang="en-US" sz="1800" dirty="0">
                <a:solidFill>
                  <a:srgbClr val="0000FF"/>
                </a:solidFill>
                <a:effectLst/>
                <a:latin typeface="Calibri" panose="020F0502020204030204" pitchFamily="34" charset="0"/>
                <a:cs typeface="Calibri" panose="020F0502020204030204" pitchFamily="34" charset="0"/>
              </a:rPr>
              <a:t>(Peterson, 1993)</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Methods compared:</a:t>
            </a:r>
            <a:r>
              <a:rPr lang="en-US" dirty="0">
                <a:latin typeface="Calibri" panose="020F0502020204030204" pitchFamily="34" charset="0"/>
                <a:cs typeface="Calibri" panose="020F0502020204030204" pitchFamily="34" charset="0"/>
              </a:rPr>
              <a:t> Conventional single-taper PSD vs. proposed multi-taper PSD.</a:t>
            </a:r>
          </a:p>
          <a:p>
            <a:endParaRPr lang="en-US" b="1"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Single-taper result (Fig. 2a):</a:t>
            </a:r>
            <a:r>
              <a:rPr lang="en-US" dirty="0">
                <a:latin typeface="Calibri" panose="020F0502020204030204" pitchFamily="34" charset="0"/>
                <a:cs typeface="Calibri" panose="020F0502020204030204" pitchFamily="34" charset="0"/>
              </a:rPr>
              <a:t> High variance and strong spectral fluctuations especially in high dynamic-range bands.</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Multi-taper result (Fig. 2b):</a:t>
            </a:r>
            <a:r>
              <a:rPr lang="en-US" dirty="0">
                <a:latin typeface="Calibri" panose="020F0502020204030204" pitchFamily="34" charset="0"/>
                <a:cs typeface="Calibri" panose="020F0502020204030204" pitchFamily="34" charset="0"/>
              </a:rPr>
              <a:t> Smooth, stable PSD reconstruction with reduced variance and minimal bias.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Multi-taper approach demonstrates superior robustness, motivating its use for subsequent cross-correlation analysis.</a:t>
            </a:r>
          </a:p>
        </p:txBody>
      </p:sp>
    </p:spTree>
    <p:extLst>
      <p:ext uri="{BB962C8B-B14F-4D97-AF65-F5344CB8AC3E}">
        <p14:creationId xmlns:p14="http://schemas.microsoft.com/office/powerpoint/2010/main" val="762364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Real World Dataset</a:t>
            </a:r>
          </a:p>
        </p:txBody>
      </p:sp>
      <p:pic>
        <p:nvPicPr>
          <p:cNvPr id="4" name="Picture 3" descr="A map of the world with red points&#10;&#10;Description automatically generated">
            <a:extLst>
              <a:ext uri="{FF2B5EF4-FFF2-40B4-BE49-F238E27FC236}">
                <a16:creationId xmlns:a16="http://schemas.microsoft.com/office/drawing/2014/main" id="{A59A21B1-FFE2-62E3-8989-8E87D35CAE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183" y="693017"/>
            <a:ext cx="6734309" cy="5717406"/>
          </a:xfrm>
          <a:prstGeom prst="rect">
            <a:avLst/>
          </a:prstGeom>
        </p:spPr>
      </p:pic>
      <p:sp>
        <p:nvSpPr>
          <p:cNvPr id="3" name="TextBox 2">
            <a:extLst>
              <a:ext uri="{FF2B5EF4-FFF2-40B4-BE49-F238E27FC236}">
                <a16:creationId xmlns:a16="http://schemas.microsoft.com/office/drawing/2014/main" id="{F3EE115E-B37F-16CF-58FF-15B6EA60E565}"/>
              </a:ext>
            </a:extLst>
          </p:cNvPr>
          <p:cNvSpPr txBox="1"/>
          <p:nvPr/>
        </p:nvSpPr>
        <p:spPr>
          <a:xfrm>
            <a:off x="7193332" y="2574920"/>
            <a:ext cx="4645742" cy="1708160"/>
          </a:xfrm>
          <a:prstGeom prst="rect">
            <a:avLst/>
          </a:prstGeom>
          <a:noFill/>
        </p:spPr>
        <p:txBody>
          <a:bodyPr wrap="square">
            <a:spAutoFit/>
          </a:bodyPr>
          <a:lstStyle/>
          <a:p>
            <a:pPr algn="just"/>
            <a:r>
              <a:rPr lang="en-US" sz="1500" dirty="0">
                <a:effectLst/>
                <a:latin typeface="Calibri" panose="020F0502020204030204" pitchFamily="34" charset="0"/>
                <a:ea typeface="Calibri" panose="020F0502020204030204" pitchFamily="34" charset="0"/>
              </a:rPr>
              <a:t>Seismic stations in Madagascar used in this study, along with station-pair connectivity statistics. </a:t>
            </a:r>
          </a:p>
          <a:p>
            <a:pPr algn="just"/>
            <a:endParaRPr lang="en-US" sz="1500" dirty="0">
              <a:latin typeface="Calibri" panose="020F0502020204030204" pitchFamily="34" charset="0"/>
              <a:ea typeface="Calibri" panose="020F0502020204030204" pitchFamily="34" charset="0"/>
            </a:endParaRPr>
          </a:p>
          <a:p>
            <a:pPr algn="just"/>
            <a:r>
              <a:rPr lang="en-US" sz="1500" dirty="0">
                <a:effectLst/>
                <a:latin typeface="Calibri" panose="020F0502020204030204" pitchFamily="34" charset="0"/>
                <a:ea typeface="Calibri" panose="020F0502020204030204" pitchFamily="34" charset="0"/>
              </a:rPr>
              <a:t>Edge widths between station pairs indicate the relative number of overlapping operational days. </a:t>
            </a:r>
          </a:p>
          <a:p>
            <a:pPr algn="just"/>
            <a:endParaRPr lang="en-US" sz="1500" dirty="0">
              <a:latin typeface="Calibri" panose="020F0502020204030204" pitchFamily="34" charset="0"/>
              <a:ea typeface="Calibri" panose="020F0502020204030204" pitchFamily="34" charset="0"/>
            </a:endParaRPr>
          </a:p>
          <a:p>
            <a:pPr algn="just"/>
            <a:endParaRPr lang="en-US" sz="1500" dirty="0"/>
          </a:p>
        </p:txBody>
      </p:sp>
    </p:spTree>
    <p:extLst>
      <p:ext uri="{BB962C8B-B14F-4D97-AF65-F5344CB8AC3E}">
        <p14:creationId xmlns:p14="http://schemas.microsoft.com/office/powerpoint/2010/main" val="3802653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Results: Frequency and Time Domain CCFs</a:t>
            </a:r>
          </a:p>
        </p:txBody>
      </p:sp>
      <p:pic>
        <p:nvPicPr>
          <p:cNvPr id="5" name="Picture 4">
            <a:extLst>
              <a:ext uri="{FF2B5EF4-FFF2-40B4-BE49-F238E27FC236}">
                <a16:creationId xmlns:a16="http://schemas.microsoft.com/office/drawing/2014/main" id="{CD97E116-E80E-63DC-6C6E-83DB15BB83D1}"/>
              </a:ext>
            </a:extLst>
          </p:cNvPr>
          <p:cNvPicPr>
            <a:picLocks noChangeAspect="1"/>
          </p:cNvPicPr>
          <p:nvPr/>
        </p:nvPicPr>
        <p:blipFill>
          <a:blip r:embed="rId2"/>
          <a:stretch>
            <a:fillRect/>
          </a:stretch>
        </p:blipFill>
        <p:spPr>
          <a:xfrm>
            <a:off x="4349692" y="654890"/>
            <a:ext cx="7722978" cy="5813285"/>
          </a:xfrm>
          <a:prstGeom prst="rect">
            <a:avLst/>
          </a:prstGeom>
        </p:spPr>
      </p:pic>
      <p:sp>
        <p:nvSpPr>
          <p:cNvPr id="7" name="TextBox 6">
            <a:extLst>
              <a:ext uri="{FF2B5EF4-FFF2-40B4-BE49-F238E27FC236}">
                <a16:creationId xmlns:a16="http://schemas.microsoft.com/office/drawing/2014/main" id="{F7EDE625-43EA-5B0A-C6DC-B0C734C862C9}"/>
              </a:ext>
            </a:extLst>
          </p:cNvPr>
          <p:cNvSpPr txBox="1"/>
          <p:nvPr/>
        </p:nvSpPr>
        <p:spPr>
          <a:xfrm>
            <a:off x="216568" y="1164624"/>
            <a:ext cx="4008923" cy="4524315"/>
          </a:xfrm>
          <a:prstGeom prst="rect">
            <a:avLst/>
          </a:prstGeom>
          <a:noFill/>
        </p:spPr>
        <p:txBody>
          <a:bodyPr wrap="square">
            <a:spAutoFit/>
          </a:bodyPr>
          <a:lstStyle/>
          <a:p>
            <a:r>
              <a:rPr lang="en-US" b="1" dirty="0"/>
              <a:t>Frequency-domain results:</a:t>
            </a:r>
            <a:endParaRPr lang="en-US" dirty="0"/>
          </a:p>
          <a:p>
            <a:pPr marL="285750" indent="-285750">
              <a:buFont typeface="Arial" panose="020B0604020202020204" pitchFamily="34" charset="0"/>
              <a:buChar char="•"/>
            </a:pPr>
            <a:r>
              <a:rPr lang="en-US" dirty="0"/>
              <a:t>Single-taper method shows high stochastic variability in cross-spectra, especially in low-stability noise bands.</a:t>
            </a:r>
          </a:p>
          <a:p>
            <a:pPr marL="285750" indent="-285750">
              <a:buFont typeface="Arial" panose="020B0604020202020204" pitchFamily="34" charset="0"/>
              <a:buChar char="•"/>
            </a:pPr>
            <a:r>
              <a:rPr lang="en-US" dirty="0"/>
              <a:t>Fast-</a:t>
            </a:r>
            <a:r>
              <a:rPr lang="en-US" dirty="0" err="1"/>
              <a:t>Mspec</a:t>
            </a:r>
            <a:r>
              <a:rPr lang="en-US" dirty="0"/>
              <a:t> (multi-taper) yields smoother, more stable spectral correlation estimates.</a:t>
            </a:r>
          </a:p>
          <a:p>
            <a:pPr marL="285750" indent="-285750">
              <a:buFont typeface="Arial" panose="020B0604020202020204" pitchFamily="34" charset="0"/>
              <a:buChar char="•"/>
            </a:pPr>
            <a:r>
              <a:rPr lang="en-US" dirty="0"/>
              <a:t>Achieves improvements </a:t>
            </a:r>
            <a:r>
              <a:rPr lang="en-US" b="1" dirty="0"/>
              <a:t>without</a:t>
            </a:r>
            <a:r>
              <a:rPr lang="en-US" dirty="0"/>
              <a:t> phase distortion or filtering-induced delays.</a:t>
            </a:r>
          </a:p>
          <a:p>
            <a:pPr>
              <a:buFont typeface="Arial" panose="020B0604020202020204" pitchFamily="34" charset="0"/>
              <a:buChar char="•"/>
            </a:pPr>
            <a:endParaRPr lang="en-US" dirty="0"/>
          </a:p>
          <a:p>
            <a:r>
              <a:rPr lang="en-US" b="1" dirty="0"/>
              <a:t>Time-domain correlations:</a:t>
            </a:r>
            <a:endParaRPr lang="en-US" dirty="0"/>
          </a:p>
          <a:p>
            <a:pPr marL="285750" indent="-285750">
              <a:buFont typeface="Arial" panose="020B0604020202020204" pitchFamily="34" charset="0"/>
              <a:buChar char="•"/>
            </a:pPr>
            <a:r>
              <a:rPr lang="en-US" dirty="0"/>
              <a:t>Fast-</a:t>
            </a:r>
            <a:r>
              <a:rPr lang="en-US" dirty="0" err="1"/>
              <a:t>Mspec</a:t>
            </a:r>
            <a:r>
              <a:rPr lang="en-US" dirty="0"/>
              <a:t> consistently produces </a:t>
            </a:r>
            <a:r>
              <a:rPr lang="en-US" b="1" dirty="0"/>
              <a:t>higher SNR</a:t>
            </a:r>
            <a:r>
              <a:rPr lang="en-US" dirty="0"/>
              <a:t> across station pairs.</a:t>
            </a:r>
          </a:p>
          <a:p>
            <a:pPr marL="285750" indent="-285750">
              <a:buFont typeface="Arial" panose="020B0604020202020204" pitchFamily="34" charset="0"/>
              <a:buChar char="•"/>
            </a:pPr>
            <a:r>
              <a:rPr lang="en-US" dirty="0"/>
              <a:t>Indicates more reliable extraction of coherent ambient seismic energy.</a:t>
            </a:r>
          </a:p>
        </p:txBody>
      </p:sp>
    </p:spTree>
    <p:extLst>
      <p:ext uri="{BB962C8B-B14F-4D97-AF65-F5344CB8AC3E}">
        <p14:creationId xmlns:p14="http://schemas.microsoft.com/office/powerpoint/2010/main" val="2319134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Resu</a:t>
            </a:r>
            <a:r>
              <a:rPr lang="en-US" sz="2400" b="1" dirty="0">
                <a:solidFill>
                  <a:schemeClr val="bg1"/>
                </a:solidFill>
                <a:latin typeface="Times New Roman" panose="02020603050405020304" pitchFamily="18" charset="0"/>
                <a:cs typeface="Times New Roman" panose="02020603050405020304" pitchFamily="18" charset="0"/>
              </a:rPr>
              <a:t>lts: Time Domain Correlation Wavefield Comparison</a:t>
            </a:r>
            <a:endParaRPr lang="en-US" sz="2400" b="1" kern="1200" dirty="0">
              <a:solidFill>
                <a:schemeClr val="bg1"/>
              </a:solidFill>
              <a:latin typeface="Times New Roman" panose="02020603050405020304" pitchFamily="18" charset="0"/>
              <a:cs typeface="Times New Roman" panose="02020603050405020304" pitchFamily="18" charset="0"/>
            </a:endParaRPr>
          </a:p>
        </p:txBody>
      </p:sp>
      <p:pic>
        <p:nvPicPr>
          <p:cNvPr id="2" name="Picture 1" descr="A screen shot of a screen&#10;&#10;Description automatically generated">
            <a:extLst>
              <a:ext uri="{FF2B5EF4-FFF2-40B4-BE49-F238E27FC236}">
                <a16:creationId xmlns:a16="http://schemas.microsoft.com/office/drawing/2014/main" id="{B349878A-A203-88D5-702E-BE1BAB049E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1384" y="595488"/>
            <a:ext cx="5564616" cy="4159422"/>
          </a:xfrm>
          <a:prstGeom prst="rect">
            <a:avLst/>
          </a:prstGeom>
        </p:spPr>
      </p:pic>
      <p:pic>
        <p:nvPicPr>
          <p:cNvPr id="3" name="Picture 2" descr="A graph of a waveform&#10;&#10;Description automatically generated with medium confidence">
            <a:extLst>
              <a:ext uri="{FF2B5EF4-FFF2-40B4-BE49-F238E27FC236}">
                <a16:creationId xmlns:a16="http://schemas.microsoft.com/office/drawing/2014/main" id="{5F984CA8-C457-A658-FD40-927A987C5F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5427" y="594390"/>
            <a:ext cx="5564879" cy="4160520"/>
          </a:xfrm>
          <a:prstGeom prst="rect">
            <a:avLst/>
          </a:prstGeom>
        </p:spPr>
      </p:pic>
      <p:sp>
        <p:nvSpPr>
          <p:cNvPr id="8" name="TextBox 7">
            <a:extLst>
              <a:ext uri="{FF2B5EF4-FFF2-40B4-BE49-F238E27FC236}">
                <a16:creationId xmlns:a16="http://schemas.microsoft.com/office/drawing/2014/main" id="{BE7EA0F7-DE86-44D1-131B-9BEDC59B52D5}"/>
              </a:ext>
            </a:extLst>
          </p:cNvPr>
          <p:cNvSpPr txBox="1"/>
          <p:nvPr/>
        </p:nvSpPr>
        <p:spPr>
          <a:xfrm>
            <a:off x="238154" y="4851135"/>
            <a:ext cx="11715691" cy="1477328"/>
          </a:xfrm>
          <a:prstGeom prst="rect">
            <a:avLst/>
          </a:prstGeom>
          <a:noFill/>
        </p:spPr>
        <p:txBody>
          <a:bodyPr wrap="square">
            <a:spAutoFit/>
          </a:bodyPr>
          <a:lstStyle/>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Fast-</a:t>
            </a:r>
            <a:r>
              <a:rPr lang="en-US" dirty="0" err="1">
                <a:latin typeface="Calibri" panose="020F0502020204030204" pitchFamily="34" charset="0"/>
                <a:cs typeface="Calibri" panose="020F0502020204030204" pitchFamily="34" charset="0"/>
              </a:rPr>
              <a:t>Mspec</a:t>
            </a:r>
            <a:r>
              <a:rPr lang="en-US" dirty="0">
                <a:latin typeface="Calibri" panose="020F0502020204030204" pitchFamily="34" charset="0"/>
                <a:cs typeface="Calibri" panose="020F0502020204030204" pitchFamily="34" charset="0"/>
              </a:rPr>
              <a:t> produces </a:t>
            </a:r>
            <a:r>
              <a:rPr lang="en-US" b="1" dirty="0">
                <a:latin typeface="Calibri" panose="020F0502020204030204" pitchFamily="34" charset="0"/>
                <a:cs typeface="Calibri" panose="020F0502020204030204" pitchFamily="34" charset="0"/>
              </a:rPr>
              <a:t>cleaner, more coherent</a:t>
            </a:r>
            <a:r>
              <a:rPr lang="en-US" dirty="0">
                <a:latin typeface="Calibri" panose="020F0502020204030204" pitchFamily="34" charset="0"/>
                <a:cs typeface="Calibri" panose="020F0502020204030204" pitchFamily="34" charset="0"/>
              </a:rPr>
              <a:t> stacked time-domain cross-correlations.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Clear phase arrivals are visible in Fast-</a:t>
            </a:r>
            <a:r>
              <a:rPr lang="en-US" dirty="0" err="1">
                <a:latin typeface="Calibri" panose="020F0502020204030204" pitchFamily="34" charset="0"/>
                <a:cs typeface="Calibri" panose="020F0502020204030204" pitchFamily="34" charset="0"/>
              </a:rPr>
              <a:t>Mspec</a:t>
            </a:r>
            <a:r>
              <a:rPr lang="en-US" dirty="0">
                <a:latin typeface="Calibri" panose="020F0502020204030204" pitchFamily="34" charset="0"/>
                <a:cs typeface="Calibri" panose="020F0502020204030204" pitchFamily="34" charset="0"/>
              </a:rPr>
              <a:t> results (right).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Classical first-order processing (left) shows </a:t>
            </a:r>
            <a:r>
              <a:rPr lang="en-US" b="1" dirty="0">
                <a:latin typeface="Calibri" panose="020F0502020204030204" pitchFamily="34" charset="0"/>
                <a:cs typeface="Calibri" panose="020F0502020204030204" pitchFamily="34" charset="0"/>
              </a:rPr>
              <a:t>higher residual noise</a:t>
            </a:r>
            <a:r>
              <a:rPr lang="en-US" dirty="0">
                <a:latin typeface="Calibri" panose="020F0502020204030204" pitchFamily="34" charset="0"/>
                <a:cs typeface="Calibri" panose="020F0502020204030204" pitchFamily="34" charset="0"/>
              </a:rPr>
              <a:t>, especially for short inter-station distances.</a:t>
            </a:r>
          </a:p>
          <a:p>
            <a:pPr marL="742950" lvl="1"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Indicates Fast-</a:t>
            </a:r>
            <a:r>
              <a:rPr lang="en-US" dirty="0" err="1">
                <a:latin typeface="Calibri" panose="020F0502020204030204" pitchFamily="34" charset="0"/>
                <a:cs typeface="Calibri" panose="020F0502020204030204" pitchFamily="34" charset="0"/>
              </a:rPr>
              <a:t>Mspec</a:t>
            </a:r>
            <a:r>
              <a:rPr lang="en-US" dirty="0">
                <a:latin typeface="Calibri" panose="020F0502020204030204" pitchFamily="34" charset="0"/>
                <a:cs typeface="Calibri" panose="020F0502020204030204" pitchFamily="34" charset="0"/>
              </a:rPr>
              <a:t> better suppresses incoherent local noise during wavefield stacking.</a:t>
            </a:r>
          </a:p>
        </p:txBody>
      </p:sp>
    </p:spTree>
    <p:extLst>
      <p:ext uri="{BB962C8B-B14F-4D97-AF65-F5344CB8AC3E}">
        <p14:creationId xmlns:p14="http://schemas.microsoft.com/office/powerpoint/2010/main" val="188000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Resu</a:t>
            </a:r>
            <a:r>
              <a:rPr lang="en-US" sz="2400" b="1" dirty="0">
                <a:solidFill>
                  <a:schemeClr val="bg1"/>
                </a:solidFill>
                <a:latin typeface="Times New Roman" panose="02020603050405020304" pitchFamily="18" charset="0"/>
                <a:cs typeface="Times New Roman" panose="02020603050405020304" pitchFamily="18" charset="0"/>
              </a:rPr>
              <a:t>lts: Frequency Domain Correlation Wavefield Comparison</a:t>
            </a:r>
            <a:endParaRPr lang="en-US" sz="2400" b="1" kern="12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E7EA0F7-DE86-44D1-131B-9BEDC59B52D5}"/>
              </a:ext>
            </a:extLst>
          </p:cNvPr>
          <p:cNvSpPr txBox="1"/>
          <p:nvPr/>
        </p:nvSpPr>
        <p:spPr>
          <a:xfrm>
            <a:off x="238154" y="4637979"/>
            <a:ext cx="11716423" cy="2031325"/>
          </a:xfrm>
          <a:prstGeom prst="rect">
            <a:avLst/>
          </a:prstGeom>
          <a:noFill/>
        </p:spPr>
        <p:txBody>
          <a:bodyPr wrap="square">
            <a:spAutoFit/>
          </a:bodyPr>
          <a:lstStyle/>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The frequency–distance diagram acts like a </a:t>
            </a:r>
            <a:r>
              <a:rPr lang="en-US" b="1" dirty="0">
                <a:latin typeface="Calibri" panose="020F0502020204030204" pitchFamily="34" charset="0"/>
                <a:cs typeface="Calibri" panose="020F0502020204030204" pitchFamily="34" charset="0"/>
              </a:rPr>
              <a:t>phase-velocity map</a:t>
            </a:r>
            <a:r>
              <a:rPr lang="en-US" dirty="0">
                <a:latin typeface="Calibri" panose="020F0502020204030204" pitchFamily="34" charset="0"/>
                <a:cs typeface="Calibri" panose="020F0502020204030204" pitchFamily="34" charset="0"/>
              </a:rPr>
              <a:t>, showing dispersive Love-wave trends.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Fast-</a:t>
            </a:r>
            <a:r>
              <a:rPr lang="en-US" dirty="0" err="1">
                <a:latin typeface="Calibri" panose="020F0502020204030204" pitchFamily="34" charset="0"/>
                <a:cs typeface="Calibri" panose="020F0502020204030204" pitchFamily="34" charset="0"/>
              </a:rPr>
              <a:t>Mspec</a:t>
            </a:r>
            <a:r>
              <a:rPr lang="en-US" dirty="0">
                <a:latin typeface="Calibri" panose="020F0502020204030204" pitchFamily="34" charset="0"/>
                <a:cs typeface="Calibri" panose="020F0502020204030204" pitchFamily="34" charset="0"/>
              </a:rPr>
              <a:t> (right) shows </a:t>
            </a:r>
            <a:r>
              <a:rPr lang="en-US" b="1" dirty="0">
                <a:latin typeface="Calibri" panose="020F0502020204030204" pitchFamily="34" charset="0"/>
                <a:cs typeface="Calibri" panose="020F0502020204030204" pitchFamily="34" charset="0"/>
              </a:rPr>
              <a:t>clear, coherent red–blue dispersive bands</a:t>
            </a:r>
            <a:r>
              <a:rPr lang="en-US" dirty="0">
                <a:latin typeface="Calibri" panose="020F0502020204030204" pitchFamily="34" charset="0"/>
                <a:cs typeface="Calibri" panose="020F0502020204030204" pitchFamily="34" charset="0"/>
              </a:rPr>
              <a:t>, especially at mid-to-high frequencies.</a:t>
            </a:r>
          </a:p>
          <a:p>
            <a:pPr marL="742950" lvl="1"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High-frequency energy attenuates faster</a:t>
            </a:r>
            <a:r>
              <a:rPr lang="en-US" dirty="0">
                <a:latin typeface="Calibri" panose="020F0502020204030204" pitchFamily="34" charset="0"/>
                <a:cs typeface="Calibri" panose="020F0502020204030204" pitchFamily="34" charset="0"/>
              </a:rPr>
              <a:t>, and Fast-</a:t>
            </a:r>
            <a:r>
              <a:rPr lang="en-US" dirty="0" err="1">
                <a:latin typeface="Calibri" panose="020F0502020204030204" pitchFamily="34" charset="0"/>
                <a:cs typeface="Calibri" panose="020F0502020204030204" pitchFamily="34" charset="0"/>
              </a:rPr>
              <a:t>Mspec</a:t>
            </a:r>
            <a:r>
              <a:rPr lang="en-US" dirty="0">
                <a:latin typeface="Calibri" panose="020F0502020204030204" pitchFamily="34" charset="0"/>
                <a:cs typeface="Calibri" panose="020F0502020204030204" pitchFamily="34" charset="0"/>
              </a:rPr>
              <a:t> captures this behavior accurately.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Compared to the classical approach (left), Fast-</a:t>
            </a:r>
            <a:r>
              <a:rPr lang="en-US" dirty="0" err="1">
                <a:latin typeface="Calibri" panose="020F0502020204030204" pitchFamily="34" charset="0"/>
                <a:cs typeface="Calibri" panose="020F0502020204030204" pitchFamily="34" charset="0"/>
              </a:rPr>
              <a:t>Mspec</a:t>
            </a:r>
            <a:r>
              <a:rPr lang="en-US" dirty="0">
                <a:latin typeface="Calibri" panose="020F0502020204030204" pitchFamily="34" charset="0"/>
                <a:cs typeface="Calibri" panose="020F0502020204030204" pitchFamily="34" charset="0"/>
              </a:rPr>
              <a:t> yields </a:t>
            </a:r>
            <a:r>
              <a:rPr lang="en-US" b="1" dirty="0">
                <a:latin typeface="Calibri" panose="020F0502020204030204" pitchFamily="34" charset="0"/>
                <a:cs typeface="Calibri" panose="020F0502020204030204" pitchFamily="34" charset="0"/>
              </a:rPr>
              <a:t>cleaner patterns with lower noise</a:t>
            </a:r>
            <a:r>
              <a:rPr lang="en-US" dirty="0">
                <a:latin typeface="Calibri" panose="020F0502020204030204" pitchFamily="34" charset="0"/>
                <a:cs typeface="Calibri" panose="020F0502020204030204" pitchFamily="34" charset="0"/>
              </a:rPr>
              <a:t>, especially in the 0.08-2.5 Hz band where SNR is typically poor.</a:t>
            </a:r>
          </a:p>
          <a:p>
            <a:pPr marL="742950" lvl="1"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pic>
        <p:nvPicPr>
          <p:cNvPr id="4" name="Picture 3" descr="A screen shot of a screen&#10;&#10;Description automatically generated">
            <a:extLst>
              <a:ext uri="{FF2B5EF4-FFF2-40B4-BE49-F238E27FC236}">
                <a16:creationId xmlns:a16="http://schemas.microsoft.com/office/drawing/2014/main" id="{9DB01DA0-CE82-EA0C-F7B0-573E593196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1408" y="655365"/>
            <a:ext cx="5418164" cy="4049989"/>
          </a:xfrm>
          <a:prstGeom prst="rect">
            <a:avLst/>
          </a:prstGeom>
        </p:spPr>
      </p:pic>
      <p:pic>
        <p:nvPicPr>
          <p:cNvPr id="5" name="Picture 4" descr="A screen shot of a computer generated image&#10;&#10;Description automatically generated">
            <a:extLst>
              <a:ext uri="{FF2B5EF4-FFF2-40B4-BE49-F238E27FC236}">
                <a16:creationId xmlns:a16="http://schemas.microsoft.com/office/drawing/2014/main" id="{D787B0BE-E0F8-797F-717B-83C03AC4E7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00887" y="654562"/>
            <a:ext cx="5419705" cy="4050792"/>
          </a:xfrm>
          <a:prstGeom prst="rect">
            <a:avLst/>
          </a:prstGeom>
        </p:spPr>
      </p:pic>
    </p:spTree>
    <p:extLst>
      <p:ext uri="{BB962C8B-B14F-4D97-AF65-F5344CB8AC3E}">
        <p14:creationId xmlns:p14="http://schemas.microsoft.com/office/powerpoint/2010/main" val="1258277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Resu</a:t>
            </a:r>
            <a:r>
              <a:rPr lang="en-US" sz="2400" b="1" dirty="0">
                <a:solidFill>
                  <a:schemeClr val="bg1"/>
                </a:solidFill>
                <a:latin typeface="Times New Roman" panose="02020603050405020304" pitchFamily="18" charset="0"/>
                <a:cs typeface="Times New Roman" panose="02020603050405020304" pitchFamily="18" charset="0"/>
              </a:rPr>
              <a:t>lts: SeisLib Phase Velocity Results</a:t>
            </a:r>
            <a:endParaRPr lang="en-US" sz="2400" b="1" kern="1200"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10AC553D-F2E1-3656-2F89-16CD613429E1}"/>
              </a:ext>
            </a:extLst>
          </p:cNvPr>
          <p:cNvPicPr>
            <a:picLocks noChangeAspect="1"/>
          </p:cNvPicPr>
          <p:nvPr/>
        </p:nvPicPr>
        <p:blipFill>
          <a:blip r:embed="rId2"/>
          <a:stretch>
            <a:fillRect/>
          </a:stretch>
        </p:blipFill>
        <p:spPr>
          <a:xfrm>
            <a:off x="48682" y="637289"/>
            <a:ext cx="4372481" cy="4523742"/>
          </a:xfrm>
          <a:prstGeom prst="rect">
            <a:avLst/>
          </a:prstGeom>
        </p:spPr>
      </p:pic>
      <p:pic>
        <p:nvPicPr>
          <p:cNvPr id="3" name="Picture 2">
            <a:extLst>
              <a:ext uri="{FF2B5EF4-FFF2-40B4-BE49-F238E27FC236}">
                <a16:creationId xmlns:a16="http://schemas.microsoft.com/office/drawing/2014/main" id="{CBAA43E7-8D8D-5D4F-0A22-69B146F66A87}"/>
              </a:ext>
            </a:extLst>
          </p:cNvPr>
          <p:cNvPicPr>
            <a:picLocks noChangeAspect="1"/>
          </p:cNvPicPr>
          <p:nvPr/>
        </p:nvPicPr>
        <p:blipFill>
          <a:blip r:embed="rId3"/>
          <a:stretch>
            <a:fillRect/>
          </a:stretch>
        </p:blipFill>
        <p:spPr>
          <a:xfrm>
            <a:off x="7783673" y="637289"/>
            <a:ext cx="4359645" cy="4510813"/>
          </a:xfrm>
          <a:prstGeom prst="rect">
            <a:avLst/>
          </a:prstGeom>
        </p:spPr>
      </p:pic>
      <p:sp>
        <p:nvSpPr>
          <p:cNvPr id="9" name="TextBox 8">
            <a:extLst>
              <a:ext uri="{FF2B5EF4-FFF2-40B4-BE49-F238E27FC236}">
                <a16:creationId xmlns:a16="http://schemas.microsoft.com/office/drawing/2014/main" id="{48A6FDE1-14B9-6E0E-D4DD-484088BF3A19}"/>
              </a:ext>
            </a:extLst>
          </p:cNvPr>
          <p:cNvSpPr txBox="1"/>
          <p:nvPr/>
        </p:nvSpPr>
        <p:spPr>
          <a:xfrm>
            <a:off x="4559146" y="2298995"/>
            <a:ext cx="3086544" cy="1200329"/>
          </a:xfrm>
          <a:prstGeom prst="rect">
            <a:avLst/>
          </a:prstGeom>
          <a:noFill/>
        </p:spPr>
        <p:txBody>
          <a:bodyPr wrap="square">
            <a:spAutoFit/>
          </a:bodyPr>
          <a:lstStyle/>
          <a:p>
            <a:pPr algn="just"/>
            <a:r>
              <a:rPr lang="en-US" dirty="0"/>
              <a:t>Phase velocities estimated using </a:t>
            </a:r>
            <a:r>
              <a:rPr lang="en-US" b="1" dirty="0" err="1"/>
              <a:t>SeisLab</a:t>
            </a:r>
            <a:r>
              <a:rPr lang="en-US" dirty="0"/>
              <a:t> </a:t>
            </a:r>
            <a:r>
              <a:rPr lang="en-US" dirty="0">
                <a:solidFill>
                  <a:srgbClr val="0432FF"/>
                </a:solidFill>
              </a:rPr>
              <a:t>(</a:t>
            </a:r>
            <a:r>
              <a:rPr lang="en-US" dirty="0" err="1">
                <a:solidFill>
                  <a:srgbClr val="0432FF"/>
                </a:solidFill>
              </a:rPr>
              <a:t>Magrini</a:t>
            </a:r>
            <a:r>
              <a:rPr lang="en-US" dirty="0">
                <a:solidFill>
                  <a:srgbClr val="0432FF"/>
                </a:solidFill>
              </a:rPr>
              <a:t> et al., 2022)</a:t>
            </a:r>
            <a:r>
              <a:rPr lang="en-US" dirty="0"/>
              <a:t> via </a:t>
            </a:r>
            <a:r>
              <a:rPr lang="en-US" b="1" dirty="0"/>
              <a:t>zero crossings of the cross spectrum</a:t>
            </a:r>
            <a:endParaRPr lang="en-US" dirty="0"/>
          </a:p>
        </p:txBody>
      </p:sp>
      <p:sp>
        <p:nvSpPr>
          <p:cNvPr id="11" name="TextBox 10">
            <a:extLst>
              <a:ext uri="{FF2B5EF4-FFF2-40B4-BE49-F238E27FC236}">
                <a16:creationId xmlns:a16="http://schemas.microsoft.com/office/drawing/2014/main" id="{7C9431AB-F656-EE92-8488-E06137E23CEA}"/>
              </a:ext>
            </a:extLst>
          </p:cNvPr>
          <p:cNvSpPr txBox="1"/>
          <p:nvPr/>
        </p:nvSpPr>
        <p:spPr>
          <a:xfrm>
            <a:off x="125683" y="5300752"/>
            <a:ext cx="5091210" cy="923330"/>
          </a:xfrm>
          <a:prstGeom prst="rect">
            <a:avLst/>
          </a:prstGeom>
          <a:noFill/>
        </p:spPr>
        <p:txBody>
          <a:bodyPr wrap="square">
            <a:spAutoFit/>
          </a:bodyPr>
          <a:lstStyle/>
          <a:p>
            <a:r>
              <a:rPr lang="en-US" dirty="0"/>
              <a:t>Moving Windowed CCFs unstable or non-convergent zero-crossing sequences.</a:t>
            </a:r>
          </a:p>
          <a:p>
            <a:r>
              <a:rPr lang="en-US" dirty="0"/>
              <a:t>Results in </a:t>
            </a:r>
            <a:r>
              <a:rPr lang="en-US" b="1" dirty="0"/>
              <a:t>poor, unreliable phase-velocity estimates</a:t>
            </a:r>
            <a:r>
              <a:rPr lang="en-US" dirty="0"/>
              <a:t>.</a:t>
            </a:r>
          </a:p>
        </p:txBody>
      </p:sp>
      <p:sp>
        <p:nvSpPr>
          <p:cNvPr id="13" name="TextBox 12">
            <a:extLst>
              <a:ext uri="{FF2B5EF4-FFF2-40B4-BE49-F238E27FC236}">
                <a16:creationId xmlns:a16="http://schemas.microsoft.com/office/drawing/2014/main" id="{90986821-2F8E-70F8-BE86-597267519674}"/>
              </a:ext>
            </a:extLst>
          </p:cNvPr>
          <p:cNvSpPr txBox="1"/>
          <p:nvPr/>
        </p:nvSpPr>
        <p:spPr>
          <a:xfrm>
            <a:off x="7267074" y="5297381"/>
            <a:ext cx="4876244" cy="923330"/>
          </a:xfrm>
          <a:prstGeom prst="rect">
            <a:avLst/>
          </a:prstGeom>
          <a:noFill/>
        </p:spPr>
        <p:txBody>
          <a:bodyPr wrap="square">
            <a:spAutoFit/>
          </a:bodyPr>
          <a:lstStyle/>
          <a:p>
            <a:r>
              <a:rPr lang="en-US" dirty="0"/>
              <a:t>Produces </a:t>
            </a:r>
            <a:r>
              <a:rPr lang="en-US" b="1" dirty="0"/>
              <a:t>low-variance, coherent</a:t>
            </a:r>
            <a:r>
              <a:rPr lang="en-US" dirty="0"/>
              <a:t> CCFs stable and consistent zero-crossing identification.</a:t>
            </a:r>
          </a:p>
          <a:p>
            <a:r>
              <a:rPr lang="en-US" dirty="0"/>
              <a:t>Yields </a:t>
            </a:r>
            <a:r>
              <a:rPr lang="en-US" b="1" dirty="0"/>
              <a:t>robust and reliable phase-velocity curves.</a:t>
            </a:r>
            <a:endParaRPr lang="en-US" dirty="0"/>
          </a:p>
        </p:txBody>
      </p:sp>
    </p:spTree>
    <p:extLst>
      <p:ext uri="{BB962C8B-B14F-4D97-AF65-F5344CB8AC3E}">
        <p14:creationId xmlns:p14="http://schemas.microsoft.com/office/powerpoint/2010/main" val="394333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05AA63F-130A-32AB-F00E-C990B4E0D3A4}"/>
              </a:ext>
            </a:extLst>
          </p:cNvPr>
          <p:cNvSpPr>
            <a:spLocks noGrp="1"/>
          </p:cNvSpPr>
          <p:nvPr>
            <p:ph type="title"/>
          </p:nvPr>
        </p:nvSpPr>
        <p:spPr>
          <a:xfrm>
            <a:off x="125683" y="78377"/>
            <a:ext cx="7885708" cy="419190"/>
          </a:xfrm>
        </p:spPr>
        <p:txBody>
          <a:bodyPr vert="horz" lIns="91440" tIns="45720" rIns="91440" bIns="45720" rtlCol="0" anchor="b">
            <a:normAutofit fontScale="90000"/>
          </a:bodyPr>
          <a:lstStyle/>
          <a:p>
            <a:r>
              <a:rPr lang="en-US" sz="2400" b="1" kern="1200" dirty="0">
                <a:solidFill>
                  <a:schemeClr val="bg1"/>
                </a:solidFill>
                <a:latin typeface="Times New Roman" panose="02020603050405020304" pitchFamily="18" charset="0"/>
                <a:cs typeface="Times New Roman" panose="02020603050405020304" pitchFamily="18" charset="0"/>
              </a:rPr>
              <a:t>Resu</a:t>
            </a:r>
            <a:r>
              <a:rPr lang="en-US" sz="2400" b="1" dirty="0">
                <a:solidFill>
                  <a:schemeClr val="bg1"/>
                </a:solidFill>
                <a:latin typeface="Times New Roman" panose="02020603050405020304" pitchFamily="18" charset="0"/>
                <a:cs typeface="Times New Roman" panose="02020603050405020304" pitchFamily="18" charset="0"/>
              </a:rPr>
              <a:t>lts: Zero Crossings Variations</a:t>
            </a:r>
            <a:endParaRPr lang="en-US" sz="2400" b="1" kern="1200"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9242D7D-86F0-230E-7918-6CFFC44F265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358" y="1466494"/>
            <a:ext cx="3264835" cy="2598874"/>
          </a:xfrm>
          <a:prstGeom prst="rect">
            <a:avLst/>
          </a:prstGeom>
          <a:noFill/>
          <a:ln>
            <a:noFill/>
          </a:ln>
        </p:spPr>
      </p:pic>
      <p:pic>
        <p:nvPicPr>
          <p:cNvPr id="8" name="Picture 7">
            <a:extLst>
              <a:ext uri="{FF2B5EF4-FFF2-40B4-BE49-F238E27FC236}">
                <a16:creationId xmlns:a16="http://schemas.microsoft.com/office/drawing/2014/main" id="{28171672-5324-E6CC-B5F1-1264E6C09C3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3584" y="1465392"/>
            <a:ext cx="3264834" cy="2601080"/>
          </a:xfrm>
          <a:prstGeom prst="rect">
            <a:avLst/>
          </a:prstGeom>
          <a:noFill/>
          <a:ln>
            <a:noFill/>
          </a:ln>
        </p:spPr>
      </p:pic>
      <p:pic>
        <p:nvPicPr>
          <p:cNvPr id="10" name="Picture 9">
            <a:extLst>
              <a:ext uri="{FF2B5EF4-FFF2-40B4-BE49-F238E27FC236}">
                <a16:creationId xmlns:a16="http://schemas.microsoft.com/office/drawing/2014/main" id="{3F6FDBD1-38CA-5A14-2DA8-05972CB17EC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04809" y="1468654"/>
            <a:ext cx="3264833" cy="2594555"/>
          </a:xfrm>
          <a:prstGeom prst="rect">
            <a:avLst/>
          </a:prstGeom>
          <a:noFill/>
          <a:ln>
            <a:noFill/>
          </a:ln>
        </p:spPr>
      </p:pic>
      <p:sp>
        <p:nvSpPr>
          <p:cNvPr id="14" name="TextBox 13">
            <a:extLst>
              <a:ext uri="{FF2B5EF4-FFF2-40B4-BE49-F238E27FC236}">
                <a16:creationId xmlns:a16="http://schemas.microsoft.com/office/drawing/2014/main" id="{BA5948B3-2A58-2465-245D-AA701B648EDC}"/>
              </a:ext>
            </a:extLst>
          </p:cNvPr>
          <p:cNvSpPr txBox="1"/>
          <p:nvPr/>
        </p:nvSpPr>
        <p:spPr>
          <a:xfrm>
            <a:off x="4640982" y="4212996"/>
            <a:ext cx="3087436" cy="646331"/>
          </a:xfrm>
          <a:prstGeom prst="rect">
            <a:avLst/>
          </a:prstGeom>
          <a:noFill/>
        </p:spPr>
        <p:txBody>
          <a:bodyPr wrap="square">
            <a:spAutoFit/>
          </a:bodyPr>
          <a:lstStyle/>
          <a:p>
            <a:pPr algn="ctr"/>
            <a:r>
              <a:rPr lang="en-US" b="1" dirty="0"/>
              <a:t>Window = 50:</a:t>
            </a:r>
            <a:r>
              <a:rPr lang="en-US" dirty="0"/>
              <a:t> Noticeable drift in zero-crossing locations.</a:t>
            </a:r>
          </a:p>
        </p:txBody>
      </p:sp>
      <p:sp>
        <p:nvSpPr>
          <p:cNvPr id="16" name="TextBox 15">
            <a:extLst>
              <a:ext uri="{FF2B5EF4-FFF2-40B4-BE49-F238E27FC236}">
                <a16:creationId xmlns:a16="http://schemas.microsoft.com/office/drawing/2014/main" id="{3BF3A58F-CD1A-E865-8FE6-06B012949F7E}"/>
              </a:ext>
            </a:extLst>
          </p:cNvPr>
          <p:cNvSpPr txBox="1"/>
          <p:nvPr/>
        </p:nvSpPr>
        <p:spPr>
          <a:xfrm>
            <a:off x="293569" y="683939"/>
            <a:ext cx="11738010" cy="646331"/>
          </a:xfrm>
          <a:prstGeom prst="rect">
            <a:avLst/>
          </a:prstGeom>
          <a:noFill/>
        </p:spPr>
        <p:txBody>
          <a:bodyPr wrap="square">
            <a:spAutoFit/>
          </a:bodyPr>
          <a:lstStyle/>
          <a:p>
            <a:r>
              <a:rPr lang="en-US" b="1" dirty="0"/>
              <a:t>Problem with smoothing:</a:t>
            </a:r>
            <a:r>
              <a:rPr lang="en-US" dirty="0"/>
              <a:t> Excessive spectral smoothing </a:t>
            </a:r>
            <a:r>
              <a:rPr lang="en-US" b="1" dirty="0"/>
              <a:t>shifts zero-crossing positions</a:t>
            </a:r>
            <a:r>
              <a:rPr lang="en-US" dirty="0"/>
              <a:t>, increasing uncertainty in dispersion estimates.</a:t>
            </a:r>
          </a:p>
        </p:txBody>
      </p:sp>
      <p:sp>
        <p:nvSpPr>
          <p:cNvPr id="18" name="TextBox 17">
            <a:extLst>
              <a:ext uri="{FF2B5EF4-FFF2-40B4-BE49-F238E27FC236}">
                <a16:creationId xmlns:a16="http://schemas.microsoft.com/office/drawing/2014/main" id="{98768243-F7D5-FA0F-A59C-9D77F8D14295}"/>
              </a:ext>
            </a:extLst>
          </p:cNvPr>
          <p:cNvSpPr txBox="1"/>
          <p:nvPr/>
        </p:nvSpPr>
        <p:spPr>
          <a:xfrm>
            <a:off x="599757" y="4212996"/>
            <a:ext cx="3087436" cy="646331"/>
          </a:xfrm>
          <a:prstGeom prst="rect">
            <a:avLst/>
          </a:prstGeom>
          <a:noFill/>
        </p:spPr>
        <p:txBody>
          <a:bodyPr wrap="square">
            <a:spAutoFit/>
          </a:bodyPr>
          <a:lstStyle/>
          <a:p>
            <a:pPr algn="ctr"/>
            <a:r>
              <a:rPr lang="en-US" b="1" dirty="0"/>
              <a:t>Window = 5:</a:t>
            </a:r>
            <a:r>
              <a:rPr lang="en-US" dirty="0"/>
              <a:t> Zero-crossing structure largely preserved.</a:t>
            </a:r>
          </a:p>
        </p:txBody>
      </p:sp>
      <p:sp>
        <p:nvSpPr>
          <p:cNvPr id="20" name="TextBox 19">
            <a:extLst>
              <a:ext uri="{FF2B5EF4-FFF2-40B4-BE49-F238E27FC236}">
                <a16:creationId xmlns:a16="http://schemas.microsoft.com/office/drawing/2014/main" id="{7C122946-E213-8427-843D-C333DBB30102}"/>
              </a:ext>
            </a:extLst>
          </p:cNvPr>
          <p:cNvSpPr txBox="1"/>
          <p:nvPr/>
        </p:nvSpPr>
        <p:spPr>
          <a:xfrm>
            <a:off x="8504810" y="4212996"/>
            <a:ext cx="3526770" cy="646331"/>
          </a:xfrm>
          <a:prstGeom prst="rect">
            <a:avLst/>
          </a:prstGeom>
          <a:noFill/>
        </p:spPr>
        <p:txBody>
          <a:bodyPr wrap="square">
            <a:spAutoFit/>
          </a:bodyPr>
          <a:lstStyle/>
          <a:p>
            <a:pPr algn="ctr"/>
            <a:r>
              <a:rPr lang="en-US" b="1" dirty="0"/>
              <a:t>Window = 100:</a:t>
            </a:r>
            <a:r>
              <a:rPr lang="en-US" dirty="0"/>
              <a:t> Significant shifts, unreliable phase-velocity retrievals.</a:t>
            </a:r>
          </a:p>
        </p:txBody>
      </p:sp>
      <p:sp>
        <p:nvSpPr>
          <p:cNvPr id="22" name="TextBox 21">
            <a:extLst>
              <a:ext uri="{FF2B5EF4-FFF2-40B4-BE49-F238E27FC236}">
                <a16:creationId xmlns:a16="http://schemas.microsoft.com/office/drawing/2014/main" id="{63ABA329-EB8D-2FB0-3B64-57B1837629FC}"/>
              </a:ext>
            </a:extLst>
          </p:cNvPr>
          <p:cNvSpPr txBox="1"/>
          <p:nvPr/>
        </p:nvSpPr>
        <p:spPr>
          <a:xfrm>
            <a:off x="1971241" y="5389346"/>
            <a:ext cx="8426917" cy="646331"/>
          </a:xfrm>
          <a:prstGeom prst="rect">
            <a:avLst/>
          </a:prstGeom>
          <a:noFill/>
        </p:spPr>
        <p:txBody>
          <a:bodyPr wrap="square">
            <a:spAutoFit/>
          </a:bodyPr>
          <a:lstStyle/>
          <a:p>
            <a:pPr algn="ctr"/>
            <a:r>
              <a:rPr lang="en-US" dirty="0"/>
              <a:t>Fast-</a:t>
            </a:r>
            <a:r>
              <a:rPr lang="en-US" dirty="0" err="1"/>
              <a:t>Mspec</a:t>
            </a:r>
            <a:r>
              <a:rPr lang="en-US" dirty="0"/>
              <a:t> avoids large smoothing windows, achieving variance reduction </a:t>
            </a:r>
            <a:r>
              <a:rPr lang="en-US" b="1" dirty="0"/>
              <a:t>without distorting</a:t>
            </a:r>
            <a:r>
              <a:rPr lang="en-US" dirty="0"/>
              <a:t> the zero-crossing structure thus </a:t>
            </a:r>
            <a:r>
              <a:rPr lang="en-US" b="1" dirty="0"/>
              <a:t>more accurate dispersion measurements</a:t>
            </a:r>
            <a:r>
              <a:rPr lang="en-US" dirty="0"/>
              <a:t>.</a:t>
            </a:r>
          </a:p>
        </p:txBody>
      </p:sp>
    </p:spTree>
    <p:extLst>
      <p:ext uri="{BB962C8B-B14F-4D97-AF65-F5344CB8AC3E}">
        <p14:creationId xmlns:p14="http://schemas.microsoft.com/office/powerpoint/2010/main" val="2569780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5" name="TextBox 4">
            <a:extLst>
              <a:ext uri="{FF2B5EF4-FFF2-40B4-BE49-F238E27FC236}">
                <a16:creationId xmlns:a16="http://schemas.microsoft.com/office/drawing/2014/main" id="{89B97BA3-FB11-1803-3639-C7141D2F3E78}"/>
              </a:ext>
            </a:extLst>
          </p:cNvPr>
          <p:cNvSpPr txBox="1"/>
          <p:nvPr/>
        </p:nvSpPr>
        <p:spPr>
          <a:xfrm>
            <a:off x="493734" y="972554"/>
            <a:ext cx="10738151" cy="4770537"/>
          </a:xfrm>
          <a:prstGeom prst="rect">
            <a:avLst/>
          </a:prstGeom>
          <a:noFill/>
        </p:spPr>
        <p:txBody>
          <a:bodyPr wrap="square" rtlCol="0">
            <a:spAutoFit/>
          </a:bodyPr>
          <a:lstStyle/>
          <a:p>
            <a:pPr marL="342900" marR="0" lvl="0" indent="-342900">
              <a:spcBef>
                <a:spcPts val="0"/>
              </a:spcBef>
              <a:spcAft>
                <a:spcPts val="0"/>
              </a:spcAft>
              <a:buFont typeface="Symbol" pitchFamily="2" charset="2"/>
              <a:buChar char=""/>
            </a:pP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Olugboji, Tolulope, and </a:t>
            </a:r>
            <a:r>
              <a:rPr lang="en-US" sz="1600" dirty="0" err="1">
                <a:solidFill>
                  <a:srgbClr val="222222"/>
                </a:solidFill>
                <a:effectLst/>
                <a:latin typeface="Calibri" panose="020F0502020204030204" pitchFamily="34" charset="0"/>
                <a:ea typeface="Calibri" panose="020F0502020204030204" pitchFamily="34" charset="0"/>
                <a:cs typeface="Calibri" panose="020F0502020204030204" pitchFamily="34" charset="0"/>
              </a:rPr>
              <a:t>Siyu</a:t>
            </a: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en-US" sz="1600" dirty="0" err="1">
                <a:solidFill>
                  <a:srgbClr val="222222"/>
                </a:solidFill>
                <a:effectLst/>
                <a:latin typeface="Calibri" panose="020F0502020204030204" pitchFamily="34" charset="0"/>
                <a:ea typeface="Calibri" panose="020F0502020204030204" pitchFamily="34" charset="0"/>
                <a:cs typeface="Calibri" panose="020F0502020204030204" pitchFamily="34" charset="0"/>
              </a:rPr>
              <a:t>Xue</a:t>
            </a: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"A Short‐Period Surface‐Wave Dispersion Dataset for Model Assessment of Africa’s Crust: ADAMA." Seismological Society of America 93.3 (2022): 1943-1959.</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Font typeface="Symbol" pitchFamily="2" charset="2"/>
              <a:buChar char=""/>
            </a:pP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Karnik, Santhosh, Justin Romberg, and Mark A. Davenport. "Thomson’s </a:t>
            </a:r>
            <a:r>
              <a:rPr lang="en-US" sz="1600" dirty="0" err="1">
                <a:solidFill>
                  <a:srgbClr val="222222"/>
                </a:solidFill>
                <a:effectLst/>
                <a:latin typeface="Calibri" panose="020F0502020204030204" pitchFamily="34" charset="0"/>
                <a:ea typeface="Calibri" panose="020F0502020204030204" pitchFamily="34" charset="0"/>
                <a:cs typeface="Calibri" panose="020F0502020204030204" pitchFamily="34" charset="0"/>
              </a:rPr>
              <a:t>multitaper</a:t>
            </a: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method revisited." IEEE Transactions on Information Theory 68.7 (2022): 4864-4891</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Font typeface="Symbol" pitchFamily="2" charset="2"/>
              <a:buChar char=""/>
            </a:pPr>
            <a:r>
              <a:rPr lang="en-US" sz="1600" dirty="0" err="1">
                <a:solidFill>
                  <a:srgbClr val="222222"/>
                </a:solidFill>
                <a:effectLst/>
                <a:latin typeface="Calibri" panose="020F0502020204030204" pitchFamily="34" charset="0"/>
                <a:ea typeface="Calibri" panose="020F0502020204030204" pitchFamily="34" charset="0"/>
                <a:cs typeface="Calibri" panose="020F0502020204030204" pitchFamily="34" charset="0"/>
              </a:rPr>
              <a:t>Tkalčić</a:t>
            </a: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H., </a:t>
            </a:r>
            <a:r>
              <a:rPr lang="en-US" sz="1600" dirty="0" err="1">
                <a:solidFill>
                  <a:srgbClr val="222222"/>
                </a:solidFill>
                <a:effectLst/>
                <a:latin typeface="Calibri" panose="020F0502020204030204" pitchFamily="34" charset="0"/>
                <a:ea typeface="Calibri" panose="020F0502020204030204" pitchFamily="34" charset="0"/>
                <a:cs typeface="Calibri" panose="020F0502020204030204" pitchFamily="34" charset="0"/>
              </a:rPr>
              <a:t>Phạm</a:t>
            </a: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T.S. and Wang, S., 2020. The Earth's coda correlation wavefield: Rise of the new paradigm and recent advances. Earth-Science Reviews, 208, p.103285.</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Font typeface="Symbol" pitchFamily="2" charset="2"/>
              <a:buChar char=""/>
            </a:pP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Peterson, Jon R. Observations and modeling</a:t>
            </a:r>
            <a:r>
              <a:rPr lang="en-US" sz="1600" i="1"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of seismic background noise</a:t>
            </a:r>
            <a:r>
              <a:rPr lang="en-US" sz="160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No. 93-322. US Geological Survey, 1993.</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fontAlgn="base">
              <a:spcBef>
                <a:spcPts val="0"/>
              </a:spcBef>
              <a:spcAft>
                <a:spcPts val="0"/>
              </a:spcAft>
              <a:buFont typeface="Symbol" pitchFamily="2" charset="2"/>
              <a:buChar char=""/>
            </a:pPr>
            <a:r>
              <a:rPr lang="en-US" sz="1600" dirty="0">
                <a:solidFill>
                  <a:srgbClr val="222222"/>
                </a:solidFill>
                <a:latin typeface="Calibri" panose="020F0502020204030204" pitchFamily="34" charset="0"/>
                <a:cs typeface="Calibri" panose="020F0502020204030204" pitchFamily="34" charset="0"/>
              </a:rPr>
              <a:t>Fabrizio </a:t>
            </a:r>
            <a:r>
              <a:rPr lang="en-US" sz="1600" dirty="0" err="1">
                <a:solidFill>
                  <a:srgbClr val="222222"/>
                </a:solidFill>
                <a:latin typeface="Calibri" panose="020F0502020204030204" pitchFamily="34" charset="0"/>
                <a:cs typeface="Calibri" panose="020F0502020204030204" pitchFamily="34" charset="0"/>
              </a:rPr>
              <a:t>Magrini</a:t>
            </a:r>
            <a:r>
              <a:rPr lang="en-US" sz="1600" dirty="0">
                <a:solidFill>
                  <a:srgbClr val="222222"/>
                </a:solidFill>
                <a:latin typeface="Calibri" panose="020F0502020204030204" pitchFamily="34" charset="0"/>
                <a:cs typeface="Calibri" panose="020F0502020204030204" pitchFamily="34" charset="0"/>
              </a:rPr>
              <a:t>, Sebastian </a:t>
            </a:r>
            <a:r>
              <a:rPr lang="en-US" sz="1600" dirty="0" err="1">
                <a:solidFill>
                  <a:srgbClr val="222222"/>
                </a:solidFill>
                <a:latin typeface="Calibri" panose="020F0502020204030204" pitchFamily="34" charset="0"/>
                <a:cs typeface="Calibri" panose="020F0502020204030204" pitchFamily="34" charset="0"/>
              </a:rPr>
              <a:t>Lauro</a:t>
            </a:r>
            <a:r>
              <a:rPr lang="en-US" sz="1600" dirty="0">
                <a:solidFill>
                  <a:srgbClr val="222222"/>
                </a:solidFill>
                <a:latin typeface="Calibri" panose="020F0502020204030204" pitchFamily="34" charset="0"/>
                <a:cs typeface="Calibri" panose="020F0502020204030204" pitchFamily="34" charset="0"/>
              </a:rPr>
              <a:t>, Emanuel </a:t>
            </a:r>
            <a:r>
              <a:rPr lang="en-US" sz="1600" dirty="0" err="1">
                <a:solidFill>
                  <a:srgbClr val="222222"/>
                </a:solidFill>
                <a:latin typeface="Calibri" panose="020F0502020204030204" pitchFamily="34" charset="0"/>
                <a:cs typeface="Calibri" panose="020F0502020204030204" pitchFamily="34" charset="0"/>
              </a:rPr>
              <a:t>Kästle</a:t>
            </a:r>
            <a:r>
              <a:rPr lang="en-US" sz="1600" dirty="0">
                <a:solidFill>
                  <a:srgbClr val="222222"/>
                </a:solidFill>
                <a:latin typeface="Calibri" panose="020F0502020204030204" pitchFamily="34" charset="0"/>
                <a:cs typeface="Calibri" panose="020F0502020204030204" pitchFamily="34" charset="0"/>
              </a:rPr>
              <a:t>, </a:t>
            </a:r>
            <a:r>
              <a:rPr lang="en-US" sz="1600" dirty="0" err="1">
                <a:solidFill>
                  <a:srgbClr val="222222"/>
                </a:solidFill>
                <a:latin typeface="Calibri" panose="020F0502020204030204" pitchFamily="34" charset="0"/>
                <a:cs typeface="Calibri" panose="020F0502020204030204" pitchFamily="34" charset="0"/>
              </a:rPr>
              <a:t>Lapo</a:t>
            </a:r>
            <a:r>
              <a:rPr lang="en-US" sz="1600" dirty="0">
                <a:solidFill>
                  <a:srgbClr val="222222"/>
                </a:solidFill>
                <a:latin typeface="Calibri" panose="020F0502020204030204" pitchFamily="34" charset="0"/>
                <a:cs typeface="Calibri" panose="020F0502020204030204" pitchFamily="34" charset="0"/>
              </a:rPr>
              <a:t> </a:t>
            </a:r>
            <a:r>
              <a:rPr lang="en-US" sz="1600" dirty="0" err="1">
                <a:solidFill>
                  <a:srgbClr val="222222"/>
                </a:solidFill>
                <a:latin typeface="Calibri" panose="020F0502020204030204" pitchFamily="34" charset="0"/>
                <a:cs typeface="Calibri" panose="020F0502020204030204" pitchFamily="34" charset="0"/>
              </a:rPr>
              <a:t>Boschi</a:t>
            </a:r>
            <a:r>
              <a:rPr lang="en-US" sz="1600" dirty="0">
                <a:solidFill>
                  <a:srgbClr val="222222"/>
                </a:solidFill>
                <a:latin typeface="Calibri" panose="020F0502020204030204" pitchFamily="34" charset="0"/>
                <a:cs typeface="Calibri" panose="020F0502020204030204" pitchFamily="34" charset="0"/>
              </a:rPr>
              <a:t>, Surface-wave tomography using SeisLib: a Python package for multiscale seismic imaging, Geophysical Journal International, Volume 231, Issue 2, November 2022, Pages 1011–1030, </a:t>
            </a:r>
            <a:r>
              <a:rPr lang="en-US" sz="1600" dirty="0">
                <a:solidFill>
                  <a:srgbClr val="222222"/>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https://doi.org/10.1093/gji/ggac236</a:t>
            </a:r>
            <a:endParaRPr lang="en-US" sz="1600" dirty="0">
              <a:solidFill>
                <a:srgbClr val="222222"/>
              </a:solidFill>
              <a:latin typeface="Calibri" panose="020F0502020204030204" pitchFamily="34" charset="0"/>
              <a:cs typeface="Calibri" panose="020F0502020204030204" pitchFamily="34" charset="0"/>
            </a:endParaRPr>
          </a:p>
          <a:p>
            <a:pPr marL="342900" marR="0" lvl="0" indent="-342900" fontAlgn="base">
              <a:spcBef>
                <a:spcPts val="0"/>
              </a:spcBef>
              <a:spcAft>
                <a:spcPts val="0"/>
              </a:spcAft>
              <a:buFont typeface="Symbol" pitchFamily="2" charset="2"/>
              <a:buChar char=""/>
            </a:pPr>
            <a:r>
              <a:rPr lang="en-US" sz="1600" dirty="0">
                <a:solidFill>
                  <a:srgbClr val="222222"/>
                </a:solidFill>
                <a:latin typeface="Calibri" panose="020F0502020204030204" pitchFamily="34" charset="0"/>
                <a:cs typeface="Calibri" panose="020F0502020204030204" pitchFamily="34" charset="0"/>
              </a:rPr>
              <a:t>Aki, K. (1957). Space and time spectra of stationary stochastic waves, with special reference to microtremors. Bulletin of the Earthquake Research Institute, 35, 415–456.</a:t>
            </a:r>
          </a:p>
          <a:p>
            <a:pPr marL="342900" indent="-342900" fontAlgn="base">
              <a:buFont typeface="Symbol" pitchFamily="2" charset="2"/>
              <a:buChar char=""/>
            </a:pPr>
            <a:r>
              <a:rPr lang="en-US" sz="1600" dirty="0">
                <a:solidFill>
                  <a:srgbClr val="222222"/>
                </a:solidFill>
                <a:latin typeface="Calibri" panose="020F0502020204030204" pitchFamily="34" charset="0"/>
                <a:cs typeface="Calibri" panose="020F0502020204030204" pitchFamily="34" charset="0"/>
              </a:rPr>
              <a:t>Yokoi, T., &amp; </a:t>
            </a:r>
            <a:r>
              <a:rPr lang="en-US" sz="1600" dirty="0" err="1">
                <a:solidFill>
                  <a:srgbClr val="222222"/>
                </a:solidFill>
                <a:latin typeface="Calibri" panose="020F0502020204030204" pitchFamily="34" charset="0"/>
                <a:cs typeface="Calibri" panose="020F0502020204030204" pitchFamily="34" charset="0"/>
              </a:rPr>
              <a:t>Margaryan</a:t>
            </a:r>
            <a:r>
              <a:rPr lang="en-US" sz="1600" dirty="0">
                <a:solidFill>
                  <a:srgbClr val="222222"/>
                </a:solidFill>
                <a:latin typeface="Calibri" panose="020F0502020204030204" pitchFamily="34" charset="0"/>
                <a:cs typeface="Calibri" panose="020F0502020204030204" pitchFamily="34" charset="0"/>
              </a:rPr>
              <a:t>, S. (2008). Consistency of the spatial autocorrelation </a:t>
            </a:r>
            <a:r>
              <a:rPr lang="en-US" sz="1600" dirty="0" err="1">
                <a:solidFill>
                  <a:srgbClr val="222222"/>
                </a:solidFill>
                <a:latin typeface="Calibri" panose="020F0502020204030204" pitchFamily="34" charset="0"/>
                <a:cs typeface="Calibri" panose="020F0502020204030204" pitchFamily="34" charset="0"/>
              </a:rPr>
              <a:t>methodwith</a:t>
            </a:r>
            <a:r>
              <a:rPr lang="en-US" sz="1600" dirty="0">
                <a:solidFill>
                  <a:srgbClr val="222222"/>
                </a:solidFill>
                <a:latin typeface="Calibri" panose="020F0502020204030204" pitchFamily="34" charset="0"/>
                <a:cs typeface="Calibri" panose="020F0502020204030204" pitchFamily="34" charset="0"/>
              </a:rPr>
              <a:t> seismic interferometry and its consequence</a:t>
            </a:r>
          </a:p>
          <a:p>
            <a:pPr marL="342900" indent="-342900" fontAlgn="base">
              <a:buFont typeface="Symbol" pitchFamily="2" charset="2"/>
              <a:buChar char=""/>
            </a:pPr>
            <a:r>
              <a:rPr lang="en-US" sz="1600" dirty="0">
                <a:solidFill>
                  <a:srgbClr val="222222"/>
                </a:solidFill>
                <a:latin typeface="Calibri" panose="020F0502020204030204" pitchFamily="34" charset="0"/>
                <a:cs typeface="Calibri" panose="020F0502020204030204" pitchFamily="34" charset="0"/>
              </a:rPr>
              <a:t>Thomson, D. J. (1982). Spectrum estimation and harmonic analysis. Proceedings of the IEEE, 70(9), 1055–1096. </a:t>
            </a:r>
          </a:p>
          <a:p>
            <a:pPr marL="342900" indent="-342900" fontAlgn="base">
              <a:buFont typeface="Symbol" pitchFamily="2" charset="2"/>
              <a:buChar char=""/>
            </a:pPr>
            <a:r>
              <a:rPr lang="en-US" sz="1600" dirty="0">
                <a:solidFill>
                  <a:srgbClr val="222222"/>
                </a:solidFill>
                <a:latin typeface="Calibri" panose="020F0502020204030204" pitchFamily="34" charset="0"/>
                <a:cs typeface="Calibri" panose="020F0502020204030204" pitchFamily="34" charset="0"/>
              </a:rPr>
              <a:t>Peterson, Jon R. Observations and modeling of seismic background noise. No. 93-322. US Geological Survey, 1993.</a:t>
            </a:r>
          </a:p>
          <a:p>
            <a:pPr marL="342900" indent="-342900" fontAlgn="base">
              <a:buFont typeface="Symbol" pitchFamily="2" charset="2"/>
              <a:buChar char=""/>
            </a:pPr>
            <a:endParaRPr lang="en-US" sz="1600" dirty="0">
              <a:solidFill>
                <a:srgbClr val="203864"/>
              </a:solidFill>
              <a:latin typeface="Calibri" panose="020F0502020204030204" pitchFamily="34" charset="0"/>
              <a:cs typeface="Calibri" panose="020F0502020204030204" pitchFamily="34" charset="0"/>
            </a:endParaRPr>
          </a:p>
          <a:p>
            <a:pPr marL="342900" marR="0" lvl="0" indent="-342900" fontAlgn="base">
              <a:spcBef>
                <a:spcPts val="0"/>
              </a:spcBef>
              <a:spcAft>
                <a:spcPts val="0"/>
              </a:spcAft>
              <a:buFont typeface="Symbol" pitchFamily="2" charset="2"/>
              <a:buChar char=""/>
            </a:pPr>
            <a:endParaRPr lang="en-US" sz="1600" u="sng" dirty="0">
              <a:solidFill>
                <a:srgbClr val="006FB7"/>
              </a:solidFill>
              <a:latin typeface="Calibri" panose="020F0502020204030204" pitchFamily="34" charset="0"/>
              <a:cs typeface="Calibri" panose="020F0502020204030204" pitchFamily="34" charset="0"/>
            </a:endParaRPr>
          </a:p>
          <a:p>
            <a:pPr marL="342900" marR="0" lvl="0" indent="-342900" fontAlgn="base">
              <a:spcBef>
                <a:spcPts val="0"/>
              </a:spcBef>
              <a:spcAft>
                <a:spcPts val="0"/>
              </a:spcAft>
              <a:buFont typeface="Symbol" pitchFamily="2" charset="2"/>
              <a:buChar char=""/>
            </a:pP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6" name="Picture 5" descr="A black background with blue text&#10;&#10;Description automatically generated">
            <a:extLst>
              <a:ext uri="{FF2B5EF4-FFF2-40B4-BE49-F238E27FC236}">
                <a16:creationId xmlns:a16="http://schemas.microsoft.com/office/drawing/2014/main" id="{C5E34BA4-B952-FAE6-F3FA-D979DB2072E6}"/>
              </a:ext>
            </a:extLst>
          </p:cNvPr>
          <p:cNvPicPr>
            <a:picLocks noChangeAspect="1"/>
          </p:cNvPicPr>
          <p:nvPr/>
        </p:nvPicPr>
        <p:blipFill rotWithShape="1">
          <a:blip r:embed="rId4">
            <a:extLst>
              <a:ext uri="{837473B0-CC2E-450A-ABE3-18F120FF3D39}">
                <a1611:picAttrSrcUrl xmlns:a1611="http://schemas.microsoft.com/office/drawing/2016/11/main" r:id="rId5"/>
              </a:ext>
            </a:extLst>
          </a:blip>
          <a:srcRect t="36011" b="38989"/>
          <a:stretch/>
        </p:blipFill>
        <p:spPr>
          <a:xfrm>
            <a:off x="9743772" y="6083300"/>
            <a:ext cx="2438390" cy="380999"/>
          </a:xfrm>
          <a:prstGeom prst="rect">
            <a:avLst/>
          </a:prstGeom>
        </p:spPr>
      </p:pic>
      <p:sp>
        <p:nvSpPr>
          <p:cNvPr id="2" name="Title 1">
            <a:extLst>
              <a:ext uri="{FF2B5EF4-FFF2-40B4-BE49-F238E27FC236}">
                <a16:creationId xmlns:a16="http://schemas.microsoft.com/office/drawing/2014/main" id="{B640F03D-DB81-30B5-6099-729EA5365BDA}"/>
              </a:ext>
            </a:extLst>
          </p:cNvPr>
          <p:cNvSpPr txBox="1">
            <a:spLocks/>
          </p:cNvSpPr>
          <p:nvPr/>
        </p:nvSpPr>
        <p:spPr>
          <a:xfrm>
            <a:off x="125682" y="78377"/>
            <a:ext cx="10837285" cy="41919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solidFill>
                  <a:schemeClr val="bg1"/>
                </a:solidFill>
                <a:latin typeface="Times New Roman" panose="02020603050405020304" pitchFamily="18" charset="0"/>
                <a:cs typeface="Times New Roman" panose="02020603050405020304" pitchFamily="18" charset="0"/>
              </a:rPr>
              <a:t>References</a:t>
            </a:r>
          </a:p>
        </p:txBody>
      </p:sp>
      <p:sp>
        <p:nvSpPr>
          <p:cNvPr id="7" name="Slide Number Placeholder 13">
            <a:extLst>
              <a:ext uri="{FF2B5EF4-FFF2-40B4-BE49-F238E27FC236}">
                <a16:creationId xmlns:a16="http://schemas.microsoft.com/office/drawing/2014/main" id="{C97A7598-742C-6107-64B1-680587D7DAA1}"/>
              </a:ext>
            </a:extLst>
          </p:cNvPr>
          <p:cNvSpPr>
            <a:spLocks noGrp="1"/>
          </p:cNvSpPr>
          <p:nvPr>
            <p:ph type="sldNum" sz="quarter" idx="12"/>
          </p:nvPr>
        </p:nvSpPr>
        <p:spPr>
          <a:xfrm>
            <a:off x="11773257" y="6586878"/>
            <a:ext cx="344680" cy="269193"/>
          </a:xfrm>
          <a:prstGeom prst="rect">
            <a:avLst/>
          </a:prstGeom>
        </p:spPr>
        <p:txBody>
          <a:bodyPr/>
          <a:lstStyle/>
          <a:p>
            <a:fld id="{87E7843D-FF13-4365-9478-9625B70A2705}" type="slidenum">
              <a:rPr lang="en-US" smtClean="0"/>
              <a:pPr/>
              <a:t>15</a:t>
            </a:fld>
            <a:endParaRPr lang="en-US" dirty="0"/>
          </a:p>
        </p:txBody>
      </p:sp>
    </p:spTree>
    <p:extLst>
      <p:ext uri="{BB962C8B-B14F-4D97-AF65-F5344CB8AC3E}">
        <p14:creationId xmlns:p14="http://schemas.microsoft.com/office/powerpoint/2010/main" val="384601450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{8D073CB8-F810-C542-80A2-7D88EEFAE629}tf16401369</Template>
  <TotalTime>1133</TotalTime>
  <Words>1492</Words>
  <Application>Microsoft Macintosh PowerPoint</Application>
  <PresentationFormat>Widescreen</PresentationFormat>
  <Paragraphs>117</Paragraphs>
  <Slides>15</Slides>
  <Notes>1</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Light</vt:lpstr>
      <vt:lpstr>Cambria Math</vt:lpstr>
      <vt:lpstr>Helvetica Neue</vt:lpstr>
      <vt:lpstr>Lato</vt:lpstr>
      <vt:lpstr>Symbol</vt:lpstr>
      <vt:lpstr>Times New Roman</vt:lpstr>
      <vt:lpstr>1_Office Theme</vt:lpstr>
      <vt:lpstr>PowerPoint Presentation</vt:lpstr>
      <vt:lpstr>What are we covering?</vt:lpstr>
      <vt:lpstr>Cross Correlations Theory</vt:lpstr>
      <vt:lpstr>Using Cross Correlations To Compute Phase Velocity</vt:lpstr>
      <vt:lpstr>Challenges with Love Wave CCFs</vt:lpstr>
      <vt:lpstr>Introducing Multi-Taper Technique</vt:lpstr>
      <vt:lpstr>Multi-Taper Workflow</vt:lpstr>
      <vt:lpstr>Does Multi-Taper Works on Synthetic Datasets</vt:lpstr>
      <vt:lpstr>Real World Dataset</vt:lpstr>
      <vt:lpstr>Results: Frequency and Time Domain CCFs</vt:lpstr>
      <vt:lpstr>Results: Time Domain Correlation Wavefield Comparison</vt:lpstr>
      <vt:lpstr>Results: Frequency Domain Correlation Wavefield Comparison</vt:lpstr>
      <vt:lpstr>Results: SeisLib Phase Velocity Results</vt:lpstr>
      <vt:lpstr>Results: Zero Crossings Variations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Swar, Sayan</dc:creator>
  <cp:lastModifiedBy>Swar, Sayan</cp:lastModifiedBy>
  <cp:revision>206</cp:revision>
  <dcterms:created xsi:type="dcterms:W3CDTF">2025-04-30T02:11:35Z</dcterms:created>
  <dcterms:modified xsi:type="dcterms:W3CDTF">2025-12-05T15:13:39Z</dcterms:modified>
</cp:coreProperties>
</file>